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962" r:id="rId4"/>
  </p:sldMasterIdLst>
  <p:notesMasterIdLst>
    <p:notesMasterId r:id="rId24"/>
  </p:notesMasterIdLst>
  <p:handoutMasterIdLst>
    <p:handoutMasterId r:id="rId25"/>
  </p:handoutMasterIdLst>
  <p:sldIdLst>
    <p:sldId id="474" r:id="rId5"/>
    <p:sldId id="428" r:id="rId6"/>
    <p:sldId id="404" r:id="rId7"/>
    <p:sldId id="405" r:id="rId8"/>
    <p:sldId id="542" r:id="rId9"/>
    <p:sldId id="543" r:id="rId10"/>
    <p:sldId id="552" r:id="rId11"/>
    <p:sldId id="547" r:id="rId12"/>
    <p:sldId id="544" r:id="rId13"/>
    <p:sldId id="545" r:id="rId14"/>
    <p:sldId id="555" r:id="rId15"/>
    <p:sldId id="546" r:id="rId16"/>
    <p:sldId id="556" r:id="rId17"/>
    <p:sldId id="551" r:id="rId18"/>
    <p:sldId id="548" r:id="rId19"/>
    <p:sldId id="549" r:id="rId20"/>
    <p:sldId id="550" r:id="rId21"/>
    <p:sldId id="557" r:id="rId22"/>
    <p:sldId id="439" r:id="rId23"/>
  </p:sldIdLst>
  <p:sldSz cx="24387175" cy="13716000"/>
  <p:notesSz cx="6858000" cy="9144000"/>
  <p:embeddedFontLst>
    <p:embeddedFont>
      <p:font typeface="IBM Plex Sans" panose="020B0503050203000203" pitchFamily="34" charset="0"/>
      <p:regular r:id="rId26"/>
      <p:bold r:id="rId27"/>
      <p:italic r:id="rId28"/>
      <p:boldItalic r:id="rId29"/>
    </p:embeddedFont>
    <p:embeddedFont>
      <p:font typeface="IBM Plex Sans ExtLt" panose="020B0303050203000203" pitchFamily="34" charset="0"/>
      <p:regular r:id="rId30"/>
      <p:italic r:id="rId31"/>
    </p:embeddedFont>
    <p:embeddedFont>
      <p:font typeface="IBM Plex Sans Light" panose="020B0403050203000203" pitchFamily="34" charset="0"/>
      <p:regular r:id="rId32"/>
      <p:italic r:id="rId33"/>
    </p:embeddedFont>
    <p:embeddedFont>
      <p:font typeface="IBM Plex Sans Medm" panose="020B0503050203000203" pitchFamily="34" charset="0"/>
      <p:regular r:id="rId34"/>
      <p:italic r:id="rId35"/>
    </p:embeddedFont>
  </p:embeddedFontLst>
  <p:defaultTextStyle>
    <a:defPPr>
      <a:defRPr lang="en-US"/>
    </a:defPPr>
    <a:lvl1pPr marL="0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68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937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406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875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344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813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282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751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mplate slides" id="{4700659D-582D-3B47-8AF6-59C9324AA29A}">
          <p14:sldIdLst>
            <p14:sldId id="474"/>
            <p14:sldId id="428"/>
            <p14:sldId id="404"/>
          </p14:sldIdLst>
        </p14:section>
        <p14:section name="GitOps" id="{6E8172F8-F917-7B46-881F-136468D10A83}">
          <p14:sldIdLst>
            <p14:sldId id="405"/>
            <p14:sldId id="542"/>
            <p14:sldId id="543"/>
            <p14:sldId id="552"/>
          </p14:sldIdLst>
        </p14:section>
        <p14:section name="Tech Stack" id="{36E365AF-BA47-E340-AB9C-EE76478F0ECA}">
          <p14:sldIdLst>
            <p14:sldId id="547"/>
            <p14:sldId id="544"/>
            <p14:sldId id="545"/>
            <p14:sldId id="555"/>
            <p14:sldId id="546"/>
            <p14:sldId id="556"/>
            <p14:sldId id="551"/>
            <p14:sldId id="548"/>
            <p14:sldId id="549"/>
            <p14:sldId id="550"/>
            <p14:sldId id="557"/>
            <p14:sldId id="439"/>
          </p14:sldIdLst>
        </p14:section>
        <p14:section name="Selected Pictograms" id="{A71DFE44-60A9-FA4A-8A00-EEDEE7195C5C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7240C83-B322-10D6-062F-819233246F17}" name="Diana Stanciulescu" initials="DS" userId="S::diana.stanciulescu@ro.ibm.com::8457c4d8-b183-4fb8-9506-2337bdfae6b8" providerId="AD"/>
  <p188:author id="{471F5894-9527-7E5F-AE6F-3881B44FA2B8}" name="Gabriel Barbu" initials="" userId="S::gabriel.barbu@ibm.com::3d0c1c4c-23d9-4258-9226-f99453c12930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chary Anderson" initials="ZA" lastIdx="26" clrIdx="0">
    <p:extLst>
      <p:ext uri="{19B8F6BF-5375-455C-9EA6-DF929625EA0E}">
        <p15:presenceInfo xmlns:p15="http://schemas.microsoft.com/office/powerpoint/2012/main" userId="S::zanderson@vsapartners.com::b6da4b55-2f36-4779-ba8b-606d779a32e3" providerId="AD"/>
      </p:ext>
    </p:extLst>
  </p:cmAuthor>
  <p:cmAuthor id="2" name="Liz Sadler" initials="LS" lastIdx="36" clrIdx="1">
    <p:extLst>
      <p:ext uri="{19B8F6BF-5375-455C-9EA6-DF929625EA0E}">
        <p15:presenceInfo xmlns:p15="http://schemas.microsoft.com/office/powerpoint/2012/main" userId="Liz Sad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24CF02-F4F1-D046-9F04-54207208EF25}" v="1" dt="2025-12-05T08:39:41.4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00"/>
    <p:restoredTop sz="96341"/>
  </p:normalViewPr>
  <p:slideViewPr>
    <p:cSldViewPr snapToGrid="0" snapToObjects="1">
      <p:cViewPr varScale="1">
        <p:scale>
          <a:sx n="65" d="100"/>
          <a:sy n="65" d="100"/>
        </p:scale>
        <p:origin x="616" y="240"/>
      </p:cViewPr>
      <p:guideLst/>
    </p:cSldViewPr>
  </p:slideViewPr>
  <p:outlineViewPr>
    <p:cViewPr>
      <p:scale>
        <a:sx n="33" d="100"/>
        <a:sy n="33" d="100"/>
      </p:scale>
      <p:origin x="-56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1.fntdata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font" Target="fonts/font9.fntdata"/><Relationship Id="rId42" Type="http://schemas.microsoft.com/office/2018/10/relationships/authors" Target="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4.fntdata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7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3.fntdata"/><Relationship Id="rId36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33" Type="http://schemas.openxmlformats.org/officeDocument/2006/relationships/font" Target="fonts/font8.fntdata"/><Relationship Id="rId38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l"/>
            <a:fld id="{614B4878-71CB-8F40-B9DD-F26F1F6CA014}" type="slidenum">
              <a:rPr lang="en-US" sz="600" smtClean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charset="0"/>
                <a:cs typeface="IBM Plex Sans Light" charset="0"/>
              </a:rPr>
              <a:pPr algn="l"/>
              <a:t>‹#›</a:t>
            </a:fld>
            <a:endParaRPr lang="en-US" sz="600">
              <a:solidFill>
                <a:schemeClr val="bg1"/>
              </a:solidFill>
              <a:latin typeface="IBM Plex Sans Light" panose="020B0503050203000203" pitchFamily="34" charset="0"/>
              <a:ea typeface="IBM Plex Sans Light" charset="0"/>
              <a:cs typeface="IBM Plex Sans Light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600">
                <a:solidFill>
                  <a:schemeClr val="bg1"/>
                </a:solidFill>
                <a:latin typeface="IBM Plex Sans Light" panose="020B0503050203000203" pitchFamily="34" charset="0"/>
                <a:ea typeface="IBM Plex Sans Light" charset="0"/>
                <a:cs typeface="IBM Plex Sans Light" charset="0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80278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6710" y="228600"/>
            <a:ext cx="6419088" cy="3612324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6ABF5568-9620-E34F-9423-054ABD059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06710" y="4087090"/>
            <a:ext cx="6419088" cy="4320309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021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600" b="0" i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panose="020B0503050203000203" pitchFamily="34" charset="0"/>
                <a:cs typeface="IBM Plex Sans Light" panose="020B0503050203000203" pitchFamily="34" charset="0"/>
              </a:defRPr>
            </a:lvl1pPr>
          </a:lstStyle>
          <a:p>
            <a:fld id="{6E2E38B8-B0B4-AD41-AC6E-B781F46A9FD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1945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panose="020B0503050203000203" pitchFamily="34" charset="0"/>
                <a:cs typeface="IBM Plex Sans Light" panose="020B0503050203000203" pitchFamily="34" charset="0"/>
              </a:defRPr>
            </a:lvl1pPr>
          </a:lstStyle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7915985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2438522" rtl="0" eaLnBrk="1" latinLnBrk="0" hangingPunct="1">
      <a:lnSpc>
        <a:spcPct val="110000"/>
      </a:lnSpc>
      <a:spcBef>
        <a:spcPts val="0"/>
      </a:spcBef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1pPr>
    <a:lvl2pPr marL="465690" indent="-452991" algn="l" defTabSz="2438522" rtl="0" eaLnBrk="1" latinLnBrk="0" hangingPunct="1">
      <a:lnSpc>
        <a:spcPct val="110000"/>
      </a:lnSpc>
      <a:spcBef>
        <a:spcPts val="0"/>
      </a:spcBef>
      <a:buFont typeface="IBM Plex Sans"/>
      <a:buChar char="–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2pPr>
    <a:lvl3pPr marL="926638" indent="-463319" algn="l" defTabSz="2438522" rtl="0" eaLnBrk="1" latinLnBrk="0" hangingPunct="1">
      <a:lnSpc>
        <a:spcPct val="110000"/>
      </a:lnSpc>
      <a:spcBef>
        <a:spcPts val="0"/>
      </a:spcBef>
      <a:buFont typeface="IBM Plex Sans Light" panose="020B0604020202020204" pitchFamily="34" charset="0"/>
      <a:buChar char="•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3pPr>
    <a:lvl4pPr marL="1682580" indent="-463319" algn="l" defTabSz="2438522" rtl="0" eaLnBrk="1" latinLnBrk="0" hangingPunct="1">
      <a:lnSpc>
        <a:spcPct val="110000"/>
      </a:lnSpc>
      <a:spcBef>
        <a:spcPts val="0"/>
      </a:spcBef>
      <a:buFont typeface="IBM Plex Sans Light"/>
      <a:buChar char="–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4pPr>
    <a:lvl5pPr marL="465690" marR="0" indent="-452991" algn="l" defTabSz="2438522" rtl="0" eaLnBrk="1" fontAlgn="base" latinLnBrk="0" hangingPunct="1">
      <a:lnSpc>
        <a:spcPct val="100000"/>
      </a:lnSpc>
      <a:spcBef>
        <a:spcPts val="1600"/>
      </a:spcBef>
      <a:spcAft>
        <a:spcPct val="0"/>
      </a:spcAft>
      <a:buClr>
        <a:srgbClr val="000000"/>
      </a:buClr>
      <a:buSzTx/>
      <a:buFont typeface="IBM Plex Sans Light" charset="-120"/>
      <a:buChar char="»"/>
      <a:tabLst/>
      <a:defRPr sz="20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5pPr>
    <a:lvl6pPr marL="6096305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6pPr>
    <a:lvl7pPr marL="7315566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7pPr>
    <a:lvl8pPr marL="8534827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8pPr>
    <a:lvl9pPr marL="9754088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2132327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6233468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7170286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8E293-555F-0C0B-FCD0-F6D8BAD8F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264CDC-29B7-524B-CAA5-C89ABFE744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055F5F-5B3E-E57C-0DBF-D23E1C0AE1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8A9F94-E116-81D4-CD0F-5473A95997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64D15-7500-6905-AAED-BCC4E5511C4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3446418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98957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 descr="Place imagery here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-1"/>
            <a:ext cx="24387175" cy="1219517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12166599"/>
            <a:ext cx="4942455" cy="1074293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166600"/>
            <a:ext cx="4947412" cy="1077014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09935B61-CCB4-2F0F-6720-2DE3FDE1A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F3BE6BB-D7C0-3C9B-44F9-5D564E48D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1"/>
            <a:ext cx="10101072" cy="7308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79518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Blue 10 full slide background ">
            <a:extLst>
              <a:ext uri="{FF2B5EF4-FFF2-40B4-BE49-F238E27FC236}">
                <a16:creationId xmlns:a16="http://schemas.microsoft.com/office/drawing/2014/main" id="{8D23798D-A03E-2BC6-136A-14C1E387E723}"/>
              </a:ext>
            </a:extLst>
          </p:cNvPr>
          <p:cNvSpPr/>
          <p:nvPr userDrawn="1"/>
        </p:nvSpPr>
        <p:spPr bwMode="auto">
          <a:xfrm>
            <a:off x="0" y="-1"/>
            <a:ext cx="24387175" cy="12195175"/>
          </a:xfrm>
          <a:prstGeom prst="rect">
            <a:avLst/>
          </a:prstGeom>
          <a:solidFill>
            <a:srgbClr val="E5F6FF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pic>
        <p:nvPicPr>
          <p:cNvPr id="7" name="Picture 6" descr="IBM 8-bar logo">
            <a:extLst>
              <a:ext uri="{FF2B5EF4-FFF2-40B4-BE49-F238E27FC236}">
                <a16:creationId xmlns:a16="http://schemas.microsoft.com/office/drawing/2014/main" id="{B4B109D8-FCAE-74D0-0B39-85BF626C84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9FACBA3-656A-1C9D-A350-7759736DCC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12166599"/>
            <a:ext cx="4942455" cy="1074293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A47F09F-F9D8-7B01-E53E-EE9451C6A6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166600"/>
            <a:ext cx="4947412" cy="1077014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8FFB679-F0FF-1DD1-8243-9D4ADEF38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1"/>
            <a:ext cx="10101072" cy="7308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670438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E4F73B63-FCC7-DAFC-5E97-E0D29B2DBF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1EEBBCD-6628-78CD-1209-20B2834A6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87865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629C-3C99-5809-3D6C-46ACEB922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6000" y="12479147"/>
            <a:ext cx="11038445" cy="762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81A5AEF9-6465-6773-9724-1305F82453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0F40089-D6C5-B905-B7FE-24BFF3580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174950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499" y="571499"/>
            <a:ext cx="11043132" cy="12578663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5C99EA1F-50F2-8D44-9784-4C9D555553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086" y="12577763"/>
            <a:ext cx="1538325" cy="5724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C22CE22-4A72-C394-2534-3F9CEE594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614004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00" y="576072"/>
            <a:ext cx="10099675" cy="571500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12000"/>
            <a:ext cx="10099675" cy="9147175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0A3BE97F-BB78-DA67-3A9B-B2FBFA0DFC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086" y="12577763"/>
            <a:ext cx="1538325" cy="572400"/>
          </a:xfrm>
          <a:prstGeom prst="rect">
            <a:avLst/>
          </a:prstGeom>
        </p:spPr>
      </p:pic>
      <p:sp>
        <p:nvSpPr>
          <p:cNvPr id="6" name="Picture Placeholder 6" descr="Place imagery here">
            <a:extLst>
              <a:ext uri="{FF2B5EF4-FFF2-40B4-BE49-F238E27FC236}">
                <a16:creationId xmlns:a16="http://schemas.microsoft.com/office/drawing/2014/main" id="{54AE768F-E6B1-F789-5E61-E59B3DBA779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499" y="569913"/>
            <a:ext cx="11043132" cy="125802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334020936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4942078" cy="4210050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6675" y="574675"/>
            <a:ext cx="4953000" cy="11617318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862676" y="574675"/>
            <a:ext cx="4941888" cy="11620500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28AA764-A00C-AFFF-7F3F-49A733DCD4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r>
              <a:rPr lang="en-US"/>
              <a:t>GitOps Workshop, MV SR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30394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6491" cy="2663825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2F412B5-726F-373A-86F7-2FBA60F1401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r>
              <a:rPr lang="en-US"/>
              <a:t>GitOps Workshop, MV SR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E2B1415-A9D9-645B-4DF0-7D16976DF72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839104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09600"/>
            <a:ext cx="17141825" cy="8832850"/>
          </a:xfrm>
        </p:spPr>
        <p:txBody>
          <a:bodyPr/>
          <a:lstStyle>
            <a:lvl1pPr>
              <a:defRPr sz="16800" b="0" i="0">
                <a:solidFill>
                  <a:schemeClr val="tx2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98A3D4B-A3E1-0D38-F80E-1D86FCFA4DA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r>
              <a:rPr lang="en-US"/>
              <a:t>GitOps Workshop, MV SR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3CF46425-C9F2-46CE-AAEE-89D8A19E0F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808370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9909175" cy="4209670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80000" y="384048"/>
            <a:ext cx="11042073" cy="877849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 marL="585216" indent="-585216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2pPr>
            <a:lvl3pPr marL="1097280" indent="-585216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3pPr>
            <a:lvl4pPr marL="1755648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0FC8337-4A61-6950-CEE5-DDB270D1074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r>
              <a:rPr lang="en-US"/>
              <a:t>GitOps Workshop, MV SR</a:t>
            </a:r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F8F57643-D39B-662E-5D14-6D9BFA200F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06079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49EB6B2-A4A6-F162-D0FE-417694FC70F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43476" cy="381000"/>
          </a:xfrm>
        </p:spPr>
        <p:txBody>
          <a:bodyPr/>
          <a:lstStyle/>
          <a:p>
            <a:r>
              <a:rPr lang="en-US"/>
              <a:t>GitOps Workshop, MV SR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4DAC6A96-E5C9-E8BD-2383-9261674409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0CC16BE-B09A-0C84-8A0B-5FE3F85FB1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000" y="309600"/>
            <a:ext cx="14649450" cy="10356265"/>
          </a:xfrm>
        </p:spPr>
        <p:txBody>
          <a:bodyPr/>
          <a:lstStyle>
            <a:lvl1pPr>
              <a:lnSpc>
                <a:spcPct val="100000"/>
              </a:lnSpc>
              <a:defRPr sz="84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1603199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576072"/>
            <a:ext cx="7623175" cy="704392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6000" y="9628222"/>
            <a:ext cx="11050588" cy="3353065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200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↗︎00M</a:t>
            </a:r>
          </a:p>
        </p:txBody>
      </p:sp>
      <p:cxnSp>
        <p:nvCxnSpPr>
          <p:cNvPr id="9" name="Straight Connector 8" descr="Vertical column divider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3587" y="569913"/>
            <a:ext cx="0" cy="1162526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80000" y="576072"/>
            <a:ext cx="7620000" cy="704392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80000" y="9628222"/>
            <a:ext cx="11049000" cy="3354293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200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+00%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21A64AF3-E67B-E80B-A5D3-6B3533C87F9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r>
              <a:rPr lang="en-US"/>
              <a:t>GitOps Workshop, MV SR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8C4F134-9B5D-407C-F525-B2FC25B7B5C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478196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28472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385200"/>
            <a:ext cx="4951413" cy="1907912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2333067"/>
            <a:ext cx="4951413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780000" y="385200"/>
            <a:ext cx="4949825" cy="1906588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2334654"/>
            <a:ext cx="4953000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859500" y="385200"/>
            <a:ext cx="4949825" cy="1903413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2333067"/>
            <a:ext cx="4953000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70675" y="12058650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56FFD0-F317-D3D7-DE9D-AA1F4AB27EE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r>
              <a:rPr lang="en-US"/>
              <a:t>GitOps Workshop, MV SR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899D670E-69CE-BB86-FB88-291343BDEE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36805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67500" y="6594475"/>
            <a:ext cx="11045952" cy="534009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00" y="309600"/>
            <a:ext cx="4949825" cy="5335586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309600"/>
            <a:ext cx="11049000" cy="53355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7850" y="6097732"/>
            <a:ext cx="232346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6000" y="6594475"/>
            <a:ext cx="4946904" cy="5340096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+000M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ABB71-218D-3F6E-E3F7-5348FD395D2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r>
              <a:rPr lang="en-US"/>
              <a:t>GitOps Workshop, MV SR</a:t>
            </a:r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77BD92D-3A6C-2396-61D4-51D7CC5B1C0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764434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28472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384048"/>
            <a:ext cx="4951413" cy="2859087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72897"/>
            <a:ext cx="7620000" cy="2859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7" name="Straight Connector 16" descr="Horizontal row divider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6667500" y="4575175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7500" y="4957821"/>
            <a:ext cx="4951413" cy="2857506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5125969"/>
            <a:ext cx="7620000" cy="2857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5" name="Straight Connector 14" descr="Horizontal row divider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6667500" y="9140825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67501" y="9526645"/>
            <a:ext cx="4951411" cy="2668530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9670409"/>
            <a:ext cx="7620000" cy="252476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2058650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95C3AC-E4B9-F837-204B-FF01953D40B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r>
              <a:rPr lang="en-US"/>
              <a:t>GitOps Workshop, MV SR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2119C11-B0BD-168C-0C07-D70B259D390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111609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2078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00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5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830AE7-F6A6-A339-0B24-876A9554C9E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r>
              <a:rPr lang="en-US"/>
              <a:t>GitOps Workshop, MV SR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A616C3-34A8-1D7A-67C9-8B76F2D30BD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313497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70675" y="576072"/>
            <a:ext cx="4956175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3044825"/>
            <a:ext cx="0" cy="91454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 descr="Vertical column divider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12188952" y="3044825"/>
            <a:ext cx="0" cy="91503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 descr="Vertical column divider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18288000" y="3044825"/>
            <a:ext cx="0" cy="91503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5E154F-497D-F356-4526-C17B1B098AC9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r>
              <a:rPr lang="en-US"/>
              <a:t>GitOps Workshop, MV SR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3714515-3CA1-0F75-0503-3208A09DFA76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B531E36-2064-83A6-3D5A-E40E324F8495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582422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0587680-FBD6-A326-93E3-B3437A4124A3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CAE80882-A798-33A6-BF3F-DF9C75646C23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12780000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809E051-5EDC-532B-0D86-AA9349AAA053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8862675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52310234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7500" y="576072"/>
            <a:ext cx="4956175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047999"/>
            <a:ext cx="4951413" cy="9156701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2"/>
            <a:ext cx="4953000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3048000"/>
            <a:ext cx="4953000" cy="91567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88952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18859500" y="576072"/>
            <a:ext cx="4959350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8859500" y="3048000"/>
            <a:ext cx="4959350" cy="91567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3F2C39-1D80-7B1C-F53D-B11D6327AF07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r>
              <a:rPr lang="en-US"/>
              <a:t>GitOps Workshop, MV SR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56961C62-D766-8A68-1FA3-BF6BE095543D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707034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097087"/>
          </a:xfrm>
        </p:spPr>
        <p:txBody>
          <a:bodyPr/>
          <a:lstStyle>
            <a:lvl1pPr>
              <a:lnSpc>
                <a:spcPct val="11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00" y="3048000"/>
            <a:ext cx="4942078" cy="45783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Picture Placeholder 13" descr="Place pictogram here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67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Picture Placeholder 13" descr="Place pictogram here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800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3047999"/>
            <a:ext cx="4942120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6" name="Picture Placeholder 13" descr="Place pictogram here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8859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7" y="3047999"/>
            <a:ext cx="4941886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C59ECBB-8567-F0FF-2B81-7CCA543AC3A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r>
              <a:rPr lang="en-US"/>
              <a:t>GitOps Workshop, MV SR</a:t>
            </a:r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193F0BFF-6925-3869-6436-5F209217E4E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3EC1ADC5-863A-1C19-32F5-F71459CCB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3142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 descr="Vertical column divider">
            <a:extLst>
              <a:ext uri="{FF2B5EF4-FFF2-40B4-BE49-F238E27FC236}">
                <a16:creationId xmlns:a16="http://schemas.microsoft.com/office/drawing/2014/main" id="{72E1DB67-171C-F7FE-B9F6-5778755FF746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6EF3DAE3-95FD-80AD-F6F4-79B5745FA45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5899409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4942078" cy="3117978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2" y="384048"/>
            <a:ext cx="4951414" cy="220126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 sz="2800"/>
            </a:lvl2pPr>
            <a:lvl3pPr>
              <a:spcBef>
                <a:spcPts val="0"/>
              </a:spcBef>
              <a:defRPr sz="2800"/>
            </a:lvl3pPr>
            <a:lvl4pPr>
              <a:spcBef>
                <a:spcPts val="0"/>
              </a:spcBef>
              <a:defRPr sz="2800"/>
            </a:lvl4pPr>
            <a:lvl5pPr>
              <a:spcBef>
                <a:spcPts val="0"/>
              </a:spcBef>
              <a:defRPr sz="2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153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5153" y="3047999"/>
            <a:ext cx="10096500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C93AC5E-9451-FF93-87DD-889A48A00DD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r>
              <a:rPr lang="en-US"/>
              <a:t>GitOps Workshop, MV SR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1F6E83E-BB80-D71A-7819-884C0CD47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649678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7424927" cy="19065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00" y="3047999"/>
            <a:ext cx="10099675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0" y="3047999"/>
            <a:ext cx="100965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9E836C4-97D9-E198-E7C4-C2E94BADE6B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r>
              <a:rPr lang="en-US"/>
              <a:t>GitOps Workshop, MV SR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1A72C-9D4B-8178-79CE-382DDE87CD2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945124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6491" cy="4210177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6675" y="576071"/>
            <a:ext cx="4949825" cy="1161910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62675" y="576071"/>
            <a:ext cx="4941888" cy="1161910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8BE2778-A9AA-3756-3479-C4A6DD4F0F0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r>
              <a:rPr lang="en-US"/>
              <a:t>GitOps Workshop, MV SR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D49C41-81F4-5A73-2F6D-EF2D5E38372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821703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2078" cy="3995927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80000" y="576000"/>
            <a:ext cx="4953000" cy="116220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62675" y="576000"/>
            <a:ext cx="4941888" cy="116220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B9B0455-A1CF-B58E-3124-86D0B0DD2BB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r>
              <a:rPr lang="en-US"/>
              <a:t>GitOps Workshop, MV SR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64E5562-E403-533D-BEAD-AB50713ED18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956051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9476" cy="4210176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2"/>
            <a:ext cx="495300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80000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047999"/>
            <a:ext cx="4953000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196BE21-C69D-85CB-EE77-49D2E4993A0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r>
              <a:rPr lang="en-US"/>
              <a:t>GitOps Workshop, MV SR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BB179B0-7DF8-112C-BC38-B65090C6DD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70831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6" cy="3995927"/>
          </a:xfrm>
        </p:spPr>
        <p:txBody>
          <a:bodyPr rIns="0"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2"/>
            <a:ext cx="495300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80000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42078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2FA1770-E046-DD8F-9F28-19D80D1D67C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r>
              <a:rPr lang="en-US"/>
              <a:t>GitOps Workshop, MV SR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1ADA982-549A-4D2D-490A-DE5610A5087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240754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4949825" cy="4210177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1" y="384048"/>
            <a:ext cx="4956175" cy="311058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2800"/>
            </a:lvl2pPr>
            <a:lvl3pPr>
              <a:lnSpc>
                <a:spcPct val="90000"/>
              </a:lnSpc>
              <a:spcBef>
                <a:spcPts val="0"/>
              </a:spcBef>
              <a:defRPr sz="2800"/>
            </a:lvl3pPr>
            <a:lvl4pPr>
              <a:lnSpc>
                <a:spcPct val="90000"/>
              </a:lnSpc>
              <a:spcBef>
                <a:spcPts val="0"/>
              </a:spcBef>
              <a:defRPr sz="2800"/>
            </a:lvl4pPr>
            <a:lvl5pPr>
              <a:lnSpc>
                <a:spcPct val="90000"/>
              </a:lnSpc>
              <a:spcBef>
                <a:spcPts val="0"/>
              </a:spcBef>
              <a:defRPr sz="2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16790"/>
            <a:ext cx="4951413" cy="9188588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Picture Placeholder 4" descr="Place pictogram here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12780000" y="576072"/>
            <a:ext cx="1216152" cy="121446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Picture Placeholder 11" descr="Place pictogram here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8859500" y="576072"/>
            <a:ext cx="1217844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7E14D98-D346-214C-0437-7A0B4A7F3F0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r>
              <a:rPr lang="en-US"/>
              <a:t>GitOps Workshop, MV SR</a:t>
            </a:r>
            <a:endParaRPr lang="en-US" dirty="0"/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8CDC5D22-5EFB-A82A-2192-76A569B4B0D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75E2B956-D8A8-9075-0842-BD0DAFFD412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BE2C4D34-A499-856F-2ED0-C6A511B884A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412524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 descr="Place pictogram here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6072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2478024"/>
            <a:ext cx="6670675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Picture Placeholder 14" descr="Place pictogram here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80000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0" y="2476500"/>
            <a:ext cx="667512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9C5483A0-0E31-72CE-21C3-6248FAEBC09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36428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6" descr="Place pictogram here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6072" y="6473951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" y="8385048"/>
            <a:ext cx="6670676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9" name="Picture Placeholder 18" descr="Place pictogram here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80000" y="647700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80000" y="8382000"/>
            <a:ext cx="667512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FC9DA86-6E63-7EF1-DAC1-73040332758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r>
              <a:rPr lang="en-US"/>
              <a:t>GitOps Workshop, MV SR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E7CD285-42F9-CF03-AB5C-1DC86205FBC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E664AD27-CDB8-1E16-6F0A-1A4FF8BD97F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0496384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00" y="576072"/>
            <a:ext cx="4961128" cy="462153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24000"/>
            <a:ext cx="4948428" cy="3048000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3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5935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80000" y="6670675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6670675"/>
            <a:ext cx="495300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D288907-977D-2E2D-D334-59684842A63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r>
              <a:rPr lang="en-US"/>
              <a:t>GitOps Workshop, MV SR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99C7C32-4361-2D42-DB76-E3E2316F597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33241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00" y="576072"/>
            <a:ext cx="4961128" cy="462153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3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5935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80000" y="6670675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6670675"/>
            <a:ext cx="495300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D288907-977D-2E2D-D334-59684842A63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r>
              <a:rPr lang="en-US"/>
              <a:t>GitOps Workshop, MV SR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99C7C32-4361-2D42-DB76-E3E2316F597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009016F-5759-0B27-8DB2-77BDD7980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23872"/>
            <a:ext cx="11044239" cy="4572128"/>
          </a:xfrm>
        </p:spPr>
        <p:txBody>
          <a:bodyPr rIns="457200"/>
          <a:lstStyle>
            <a:lvl1pPr>
              <a:lnSpc>
                <a:spcPct val="11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975277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B933E98-EDAA-167B-D822-384AE57CFD4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r>
              <a:rPr lang="en-US"/>
              <a:t>GitOps Workshop, MV SR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CE74F70-DD3B-B787-1122-8CC2F06AD01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73047254-F916-4821-F269-6EDEB3A3FAD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00" y="576072"/>
            <a:ext cx="4942078" cy="3995928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4362297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6994" cy="4210177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61589D3-5821-F43C-9924-D7FBDD5E84A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r>
              <a:rPr lang="en-US"/>
              <a:t>GitOps Workshop, MV SR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EA471B4-B30A-F4D7-84E4-C54A4D1ACD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C5CEBFE7-AD2E-DFE8-B046-3B86682861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42695C8E-740F-09FE-EEF5-F2D3F3F881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59937119-9484-C422-CDBB-7ACF8FB463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031FDB97-22F2-B958-137D-E25328D2B0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57828484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1D44C30-196F-B4B1-540A-E556579735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66415" y="576071"/>
            <a:ext cx="4956048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1"/>
            <a:ext cx="4956048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499" y="576071"/>
            <a:ext cx="4946904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6DFE032-E717-840D-774E-AC6218CA01A8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r>
              <a:rPr lang="en-US"/>
              <a:t>GitOps Workshop, MV SR</a:t>
            </a:r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19EFD5E-874A-DCAB-55D5-D376C79F2C6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0813F20A-BEE4-B8A6-B7C6-A452A39FAD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6415" y="6673850"/>
            <a:ext cx="4956048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50973AC-ED14-F5BF-FFA2-3AA73BE9F4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6673850"/>
            <a:ext cx="4956048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BE127C12-10BF-D35C-4112-2B9F894815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499" y="6673850"/>
            <a:ext cx="4946904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56056091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Picture Placeholder 15" descr="Place icon here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67500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8C06-F3C6-0E95-A225-29F730DD1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499" y="1524000"/>
            <a:ext cx="4956048" cy="399910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7" name="Picture Placeholder 15" descr="Place icon here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80000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FD5E03-A007-B728-4616-E05622A43A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0" y="1524000"/>
            <a:ext cx="4953000" cy="399910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Picture Placeholder 15" descr="Place icon here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8859501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C06719-7195-BBE7-0154-56A039A4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59501" y="1523999"/>
            <a:ext cx="4946904" cy="3999099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23" name="Straight Connector 22" descr="Horizontal row divider">
            <a:extLst>
              <a:ext uri="{FF2B5EF4-FFF2-40B4-BE49-F238E27FC236}">
                <a16:creationId xmlns:a16="http://schemas.microsoft.com/office/drawing/2014/main" id="{252CDB94-BA57-B58F-95F0-D406FE34BB4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177228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Picture Placeholder 15" descr="Place icon here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667500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704E464-B0E0-CDD0-B14B-FA6386285A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7499" y="7623594"/>
            <a:ext cx="4956048" cy="39982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Picture Placeholder 15" descr="Place icon here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2780000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96B64B8-6DA8-8704-DD30-37587B3E6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780000" y="7623594"/>
            <a:ext cx="4956048" cy="399829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1" name="Picture Placeholder 15" descr="Place icon here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8859501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F965C82-A0A6-A670-C10A-6073DD354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859501" y="7623594"/>
            <a:ext cx="4946904" cy="39982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6C9A7FC-6BA2-EF1D-18D5-F605D8C7C003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r>
              <a:rPr lang="en-US"/>
              <a:t>GitOps Workshop, MV SR</a:t>
            </a:r>
            <a:endParaRPr lang="en-US" dirty="0"/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C0294F07-890E-B2F9-0CAD-1B5AFB7648A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0E795639-6102-AB6C-5918-29F86236BFD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 descr="Vertical column divider">
            <a:extLst>
              <a:ext uri="{FF2B5EF4-FFF2-40B4-BE49-F238E27FC236}">
                <a16:creationId xmlns:a16="http://schemas.microsoft.com/office/drawing/2014/main" id="{357E5319-53C7-E291-189E-B5A9A71EC85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id="{C5786CF5-FEFB-F111-90C8-4410630FD7A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420554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9475" cy="3413126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0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3138"/>
            <a:ext cx="0" cy="1162203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2849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0" cy="60991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9A0B1DF-AF8B-38B3-B47C-60722DFBF162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r>
              <a:rPr lang="en-US"/>
              <a:t>GitOps Workshop, MV SR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FD38FC2-A92F-D3A8-74D5-CE6E95D9C133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A5B6E0FE-2F6F-9D77-9834-2DF9E13E22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22E65FD-CDEF-1AA2-2521-5B200BF4B6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83C43A7A-FFA5-D00F-7BEB-AA5C5DA6FB8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558C27E-CF79-F761-3827-DA392178DC8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78000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C0BF9C6F-22AC-2FF0-D8C9-37373CDEB3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784512172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3413126"/>
          </a:xfrm>
        </p:spPr>
        <p:txBody>
          <a:bodyPr rIns="0"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0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C192388-DAC3-247F-4457-03A65F8CDF3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r>
              <a:rPr lang="en-US"/>
              <a:t>GitOps Workshop, MV SR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2D75691-23B7-FADC-4357-CB3662EB377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CB17488F-3B5A-CD3F-8D89-787477C1F94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3138"/>
            <a:ext cx="0" cy="1162203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Horizontal row divider">
            <a:extLst>
              <a:ext uri="{FF2B5EF4-FFF2-40B4-BE49-F238E27FC236}">
                <a16:creationId xmlns:a16="http://schemas.microsoft.com/office/drawing/2014/main" id="{7B2108DD-FE3A-F98C-D857-CDFA3DAD966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2849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03D0E68D-02AF-474A-3224-FF5108D2338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83300"/>
            <a:ext cx="0" cy="61118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5600EFDE-928F-B419-8585-5582A68373F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5C1B1885-0510-1907-4EAD-DB9018C133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5804D2DB-0651-E704-D761-49FB6352B7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900EBA3-CCC2-CE83-A620-B68ADAF8371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78000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AB4091C-FF62-7BAF-B996-F22392D5E7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1212167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3041649"/>
            <a:ext cx="4946904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0675" y="3041649"/>
            <a:ext cx="4951413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Picture Placeholder 10" descr="Place imagery here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63500" y="576073"/>
            <a:ext cx="11041253" cy="12571602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5F8DDE-78BD-E2B6-1CAB-2A9EF14E9F7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r>
              <a:rPr lang="en-US"/>
              <a:t>GitOps Workshop, MV SR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836230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00" y="3041649"/>
            <a:ext cx="4956175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Picture Placeholder 11" descr="Place imagery here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0"/>
            <a:ext cx="18291175" cy="13716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09C899-A6D4-3826-EAB8-A75F78607CE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r>
              <a:rPr lang="en-US"/>
              <a:t>GitOps Workshop, MV SR</a:t>
            </a:r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EB46264-65A0-272C-CC19-DCA9B586608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154425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3041649"/>
            <a:ext cx="4956175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67500" y="571500"/>
            <a:ext cx="17137063" cy="125793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47D5110-D587-CC11-18F6-FEB7AA2D785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r>
              <a:rPr lang="en-US"/>
              <a:t>GitOps Workshop, MV SR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768506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24387174" cy="1371599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8A69D316-0792-83BD-3912-71CDE3BB681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270910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77850" y="571500"/>
            <a:ext cx="23226713" cy="1257934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7694905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 descr="Place bio portrait here">
            <a:extLst>
              <a:ext uri="{FF2B5EF4-FFF2-40B4-BE49-F238E27FC236}">
                <a16:creationId xmlns:a16="http://schemas.microsoft.com/office/drawing/2014/main" id="{0B1677E6-5066-100D-29D6-CCAD04C21BCE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576000" y="3044825"/>
            <a:ext cx="2462402" cy="2476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13" name="Picture Placeholder 7" descr="Place bio portrait here">
            <a:extLst>
              <a:ext uri="{FF2B5EF4-FFF2-40B4-BE49-F238E27FC236}">
                <a16:creationId xmlns:a16="http://schemas.microsoft.com/office/drawing/2014/main" id="{3DCE12BA-53E1-8B67-A029-029F1E6F916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76000" y="6096000"/>
            <a:ext cx="2462402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15" name="Picture Placeholder 7" descr="Place bio portrait here">
            <a:extLst>
              <a:ext uri="{FF2B5EF4-FFF2-40B4-BE49-F238E27FC236}">
                <a16:creationId xmlns:a16="http://schemas.microsoft.com/office/drawing/2014/main" id="{05E149CA-A25F-74EE-93DF-1A877CDE924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576000" y="9140825"/>
            <a:ext cx="2462402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5" name="Picture Placeholder 7" descr="Place bio portrait here">
            <a:extLst>
              <a:ext uri="{FF2B5EF4-FFF2-40B4-BE49-F238E27FC236}">
                <a16:creationId xmlns:a16="http://schemas.microsoft.com/office/drawing/2014/main" id="{AAC7C1AD-0F8C-4D02-0112-981444AFE98D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12780000" y="3044825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7" name="Picture Placeholder 7" descr="Place bio portrait here">
            <a:extLst>
              <a:ext uri="{FF2B5EF4-FFF2-40B4-BE49-F238E27FC236}">
                <a16:creationId xmlns:a16="http://schemas.microsoft.com/office/drawing/2014/main" id="{22271FFB-E2D1-459B-4089-A291A1110AE8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2780000" y="6096000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9" name="Picture Placeholder 7" descr="Place bio portrait here">
            <a:extLst>
              <a:ext uri="{FF2B5EF4-FFF2-40B4-BE49-F238E27FC236}">
                <a16:creationId xmlns:a16="http://schemas.microsoft.com/office/drawing/2014/main" id="{F3C99020-5BF1-8A8C-BDCB-42766A5B9BE5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12780000" y="9140825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29000" y="3044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29000" y="6096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9000" y="9140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617825" y="3044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5617825" y="6096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5617825" y="9140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D4D4C25-96EE-FF6D-B301-962CD7A6366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r>
              <a:rPr lang="en-US"/>
              <a:t>GitOps Workshop, MV SR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A0E5B0D-36A0-4281-7D57-C2CC4453113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719277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3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667500" y="576000"/>
            <a:ext cx="17145000" cy="11623675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table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694FFFD-5196-625E-C3FC-9AB6BB13FC3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r>
              <a:rPr lang="en-US"/>
              <a:t>GitOps Workshop, MV SR</a:t>
            </a:r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DD2D25A8-2AEC-F554-8D58-47C112486D4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29029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1"/>
            <a:ext cx="4949825" cy="1527049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FFC916-9B64-A7DC-672D-A4AFA1AE96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7500" y="12782487"/>
            <a:ext cx="5524500" cy="425450"/>
          </a:xfrm>
        </p:spPr>
        <p:txBody>
          <a:bodyPr anchor="b" anchorCtr="0"/>
          <a:lstStyle>
            <a:lvl1pPr>
              <a:defRPr sz="1600">
                <a:latin typeface="IBM Plex Sans" panose="020B0503050203000203" pitchFamily="34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Source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1A85749-B0F2-6B16-9E7E-1C979593E9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6000" y="3044825"/>
            <a:ext cx="4943475" cy="9150350"/>
          </a:xfrm>
        </p:spPr>
        <p:txBody>
          <a:bodyPr/>
          <a:lstStyle>
            <a:lvl1pPr>
              <a:defRPr sz="2800">
                <a:latin typeface="+mj-lt"/>
              </a:defRPr>
            </a:lvl1pPr>
            <a:lvl2pPr>
              <a:defRPr sz="2800">
                <a:latin typeface="+mj-lt"/>
              </a:defRPr>
            </a:lvl2pPr>
            <a:lvl3pPr>
              <a:defRPr sz="2800">
                <a:latin typeface="+mj-lt"/>
              </a:defRPr>
            </a:lvl3pPr>
            <a:lvl4pPr>
              <a:defRPr sz="2800">
                <a:latin typeface="+mj-lt"/>
              </a:defRPr>
            </a:lvl4pPr>
            <a:lvl5pPr>
              <a:defRPr sz="2800">
                <a:latin typeface="+mj-lt"/>
              </a:defRPr>
            </a:lvl5pPr>
          </a:lstStyle>
          <a:p>
            <a:pPr>
              <a:lnSpc>
                <a:spcPct val="110000"/>
              </a:lnSpc>
            </a:pPr>
            <a:r>
              <a:rPr lang="en-US" sz="2800" dirty="0">
                <a:latin typeface="IBM Plex Sans Light" panose="020B0403050203000203" pitchFamily="34" charset="0"/>
              </a:rPr>
              <a:t>Lorem ipsum dolor sit </a:t>
            </a:r>
            <a:r>
              <a:rPr lang="en-US" sz="2800" dirty="0" err="1">
                <a:latin typeface="IBM Plex Sans Light" panose="020B0403050203000203" pitchFamily="34" charset="0"/>
              </a:rPr>
              <a:t>amet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donec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quam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felis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ultricies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nec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pellentesque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eu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pretium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quis</a:t>
            </a:r>
            <a:r>
              <a:rPr lang="en-US" sz="2800" dirty="0">
                <a:latin typeface="IBM Plex Sans Light" panose="020B0403050203000203" pitchFamily="34" charset="0"/>
              </a:rPr>
              <a:t> sem. </a:t>
            </a:r>
            <a:r>
              <a:rPr lang="en-US" sz="2800" dirty="0" err="1">
                <a:latin typeface="IBM Plex Sans Light" panose="020B0403050203000203" pitchFamily="34" charset="0"/>
              </a:rPr>
              <a:t>Nulla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conset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massa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quis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enim</a:t>
            </a:r>
            <a:r>
              <a:rPr lang="en-US" sz="2800" dirty="0">
                <a:latin typeface="IBM Plex Sans Light" panose="020B0403050203000203" pitchFamily="34" charset="0"/>
              </a:rPr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1CF978-95F1-0188-4FBB-81AAB884C2C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r>
              <a:rPr lang="en-US"/>
              <a:t>GitOps Workshop, MV SR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910353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84048"/>
            <a:ext cx="4956175" cy="2859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62675" y="576000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r>
              <a:rPr lang="en-US"/>
              <a:t>GitOps Workshop, MV SR</a:t>
            </a:r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0C628C1A-F2DD-6011-5846-A9A3A6D3BD7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6187956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84048"/>
            <a:ext cx="4956175" cy="2859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80000" y="576000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59500" y="576000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5CA4A6F-2777-D002-EE9E-92C246A4DA8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r>
              <a:rPr lang="en-US"/>
              <a:t>GitOps Workshop, MV SR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FBFB86A-A7DC-B54C-4EEC-B69E1897903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6161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r>
              <a:rPr lang="en-US"/>
              <a:t>GitOps Workshop, MV SR</a:t>
            </a:r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05039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, no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719226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5371" y="6168460"/>
            <a:ext cx="3456432" cy="137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38491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41592" y="12951714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576072" y="576072"/>
            <a:ext cx="22590125" cy="2468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/>
          <a:lstStyle/>
          <a:p>
            <a:r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574675" y="3327399"/>
            <a:ext cx="22590125" cy="8867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6000" y="1282328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/>
              <a:t>GitOps Workshop, MV SR</a:t>
            </a:r>
          </a:p>
        </p:txBody>
      </p:sp>
    </p:spTree>
    <p:extLst>
      <p:ext uri="{BB962C8B-B14F-4D97-AF65-F5344CB8AC3E}">
        <p14:creationId xmlns:p14="http://schemas.microsoft.com/office/powerpoint/2010/main" val="36690312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44" r:id="rId1"/>
    <p:sldLayoutId id="2147483945" r:id="rId2"/>
    <p:sldLayoutId id="2147483904" r:id="rId3"/>
    <p:sldLayoutId id="2147483905" r:id="rId4"/>
    <p:sldLayoutId id="2147483901" r:id="rId5"/>
    <p:sldLayoutId id="2147483692" r:id="rId6"/>
    <p:sldLayoutId id="2147483906" r:id="rId7"/>
    <p:sldLayoutId id="2147483907" r:id="rId8"/>
    <p:sldLayoutId id="2147483910" r:id="rId9"/>
    <p:sldLayoutId id="2147483908" r:id="rId10"/>
    <p:sldLayoutId id="2147483909" r:id="rId11"/>
    <p:sldLayoutId id="2147483912" r:id="rId12"/>
    <p:sldLayoutId id="2147483914" r:id="rId13"/>
    <p:sldLayoutId id="2147483915" r:id="rId14"/>
    <p:sldLayoutId id="2147483913" r:id="rId15"/>
    <p:sldLayoutId id="2147483917" r:id="rId16"/>
    <p:sldLayoutId id="2147483942" r:id="rId17"/>
    <p:sldLayoutId id="2147483919" r:id="rId18"/>
    <p:sldLayoutId id="2147483929" r:id="rId19"/>
    <p:sldLayoutId id="2147483920" r:id="rId20"/>
    <p:sldLayoutId id="2147483930" r:id="rId21"/>
    <p:sldLayoutId id="2147483928" r:id="rId22"/>
    <p:sldLayoutId id="2147483948" r:id="rId23"/>
    <p:sldLayoutId id="2147483927" r:id="rId24"/>
    <p:sldLayoutId id="2147483950" r:id="rId25"/>
    <p:sldLayoutId id="2147483921" r:id="rId26"/>
    <p:sldLayoutId id="2147483916" r:id="rId27"/>
    <p:sldLayoutId id="2147483922" r:id="rId28"/>
    <p:sldLayoutId id="2147483965" r:id="rId29"/>
    <p:sldLayoutId id="2147483956" r:id="rId30"/>
    <p:sldLayoutId id="2147483923" r:id="rId31"/>
    <p:sldLayoutId id="2147483924" r:id="rId32"/>
    <p:sldLayoutId id="2147483926" r:id="rId33"/>
    <p:sldLayoutId id="2147483925" r:id="rId34"/>
    <p:sldLayoutId id="2147483959" r:id="rId35"/>
    <p:sldLayoutId id="2147483937" r:id="rId36"/>
    <p:sldLayoutId id="2147483932" r:id="rId37"/>
    <p:sldLayoutId id="2147483934" r:id="rId38"/>
    <p:sldLayoutId id="2147483935" r:id="rId39"/>
    <p:sldLayoutId id="2147483936" r:id="rId40"/>
    <p:sldLayoutId id="2147483938" r:id="rId41"/>
    <p:sldLayoutId id="2147483939" r:id="rId42"/>
    <p:sldLayoutId id="2147483964" r:id="rId43"/>
    <p:sldLayoutId id="2147483940" r:id="rId44"/>
    <p:sldLayoutId id="2147483960" r:id="rId45"/>
    <p:sldLayoutId id="2147483943" r:id="rId46"/>
    <p:sldLayoutId id="2147483963" r:id="rId47"/>
    <p:sldLayoutId id="2147483941" r:id="rId48"/>
  </p:sldLayoutIdLst>
  <p:transition spd="med"/>
  <p:hf hdr="0" dt="0"/>
  <p:txStyles>
    <p:titleStyle>
      <a:lvl1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IBM Plex Sans Light"/>
        </a:defRPr>
      </a:lvl1pPr>
      <a:lvl2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2pPr>
      <a:lvl3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3pPr>
      <a:lvl4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4pPr>
      <a:lvl5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0" marR="0" indent="362568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0" marR="0" indent="725139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0" marR="0" indent="108770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0" marR="0" indent="145027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titleStyle>
    <p:bodyStyle>
      <a:lvl1pPr marL="0" marR="0" indent="0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1pPr>
      <a:lvl2pPr marL="329184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2pPr>
      <a:lvl3pPr marL="658368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3pPr>
      <a:lvl4pPr marL="987552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4pPr>
      <a:lvl5pPr marL="1143000" marR="0" indent="-457200" algn="l" defTabSz="2438400" rtl="0" eaLnBrk="1" latinLnBrk="0" hangingPunct="1">
        <a:lnSpc>
          <a:spcPct val="110000"/>
        </a:lnSpc>
        <a:spcBef>
          <a:spcPts val="2900"/>
        </a:spcBef>
        <a:spcAft>
          <a:spcPts val="0"/>
        </a:spcAft>
        <a:buClrTx/>
        <a:buSzPct val="100000"/>
        <a:buFont typeface="IBM Plex Sans" panose="020B0604020202020204" pitchFamily="34" charset="0"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184306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2205631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256820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2930769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bodyStyle>
    <p:otherStyle>
      <a:lvl1pPr marL="0" marR="0" indent="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34299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685982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1028974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1371965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1714956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2057948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240094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274393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  <p:extLst>
    <p:ext uri="{27BBF7A9-308A-43DC-89C8-2F10F3537804}">
      <p15:sldGuideLst xmlns:p15="http://schemas.microsoft.com/office/powerpoint/2012/main"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9" orient="horz" pos="3840" userDrawn="1">
          <p15:clr>
            <a:srgbClr val="EE5396"/>
          </p15:clr>
        </p15:guide>
        <p15:guide id="20" orient="horz" pos="958" userDrawn="1">
          <p15:clr>
            <a:srgbClr val="EE5396"/>
          </p15:clr>
        </p15:guide>
        <p15:guide id="25" orient="horz" pos="7682" userDrawn="1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30" orient="horz" pos="1918" userDrawn="1">
          <p15:clr>
            <a:srgbClr val="EE5396"/>
          </p15:clr>
        </p15:guide>
        <p15:guide id="32" orient="horz" pos="6720" userDrawn="1">
          <p15:clr>
            <a:srgbClr val="EE5396"/>
          </p15:clr>
        </p15:guide>
        <p15:guide id="33" orient="horz" pos="2880" userDrawn="1">
          <p15:clr>
            <a:srgbClr val="EE5396"/>
          </p15:clr>
        </p15:guide>
        <p15:guide id="34" orient="horz" pos="4800" userDrawn="1">
          <p15:clr>
            <a:srgbClr val="EE5396"/>
          </p15:clr>
        </p15:guide>
        <p15:guide id="35" orient="horz" pos="5758" userDrawn="1">
          <p15:clr>
            <a:srgbClr val="EE5396"/>
          </p15:clr>
        </p15:guide>
        <p15:guide id="36" orient="horz" pos="8284" userDrawn="1">
          <p15:clr>
            <a:srgbClr val="9FCC3B"/>
          </p15:clr>
        </p15:guide>
        <p15:guide id="37" orient="horz" pos="360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kubo.martin@ibm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4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43613A2-28F2-1135-13AB-E7155D225A4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045" y="12166599"/>
            <a:ext cx="4942455" cy="1074293"/>
          </a:xfrm>
        </p:spPr>
        <p:txBody>
          <a:bodyPr/>
          <a:lstStyle/>
          <a:p>
            <a:r>
              <a:rPr lang="sk-SK" dirty="0"/>
              <a:t>Martin Kubo</a:t>
            </a:r>
            <a:br>
              <a:rPr lang="sk-SK" dirty="0"/>
            </a:br>
            <a:r>
              <a:rPr lang="sk-SK" dirty="0" err="1"/>
              <a:t>Application</a:t>
            </a:r>
            <a:r>
              <a:rPr lang="sk-SK" dirty="0"/>
              <a:t> Developer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093B1DF-A5ED-8486-C2BD-38634D7461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166600"/>
            <a:ext cx="4947412" cy="1077014"/>
          </a:xfrm>
        </p:spPr>
        <p:txBody>
          <a:bodyPr/>
          <a:lstStyle/>
          <a:p>
            <a:r>
              <a:rPr lang="sk-SK" dirty="0">
                <a:hlinkClick r:id="rId3"/>
              </a:rPr>
              <a:t>kubo.martin@ibm.com</a:t>
            </a:r>
            <a:endParaRPr lang="sk-SK" dirty="0"/>
          </a:p>
          <a:p>
            <a:r>
              <a:rPr lang="sk-SK" dirty="0"/>
              <a:t>0902 486 495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35AEEA-5D4C-1E14-8D74-5ACD379B0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1"/>
            <a:ext cx="10101072" cy="7308850"/>
          </a:xfrm>
        </p:spPr>
        <p:txBody>
          <a:bodyPr/>
          <a:lstStyle/>
          <a:p>
            <a:r>
              <a:rPr lang="sk-SK" dirty="0" err="1"/>
              <a:t>GitOps</a:t>
            </a:r>
            <a:r>
              <a:rPr lang="sk-SK" dirty="0"/>
              <a:t> Workshop</a:t>
            </a:r>
            <a:br>
              <a:rPr lang="sk-SK" dirty="0"/>
            </a:br>
            <a:r>
              <a:rPr lang="sk-SK" dirty="0"/>
              <a:t>OSK MV SR</a:t>
            </a:r>
          </a:p>
        </p:txBody>
      </p:sp>
    </p:spTree>
    <p:extLst>
      <p:ext uri="{BB962C8B-B14F-4D97-AF65-F5344CB8AC3E}">
        <p14:creationId xmlns:p14="http://schemas.microsoft.com/office/powerpoint/2010/main" val="257129121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AAA82-CFDC-60B5-2162-DE9169C08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7424927" cy="1906588"/>
          </a:xfrm>
        </p:spPr>
        <p:txBody>
          <a:bodyPr/>
          <a:lstStyle/>
          <a:p>
            <a:r>
              <a:rPr lang="sk-SK" sz="4200" b="1" dirty="0"/>
              <a:t>Martin Kubo</a:t>
            </a:r>
            <a:br>
              <a:rPr lang="sk-SK" sz="4200" dirty="0"/>
            </a:br>
            <a:r>
              <a:rPr lang="sk-SK" sz="4200" dirty="0" err="1"/>
              <a:t>Application</a:t>
            </a:r>
            <a:r>
              <a:rPr lang="sk-SK" sz="4200" dirty="0"/>
              <a:t> Developer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AC72F0-44AC-8897-BB5A-5B9A1F79A5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00" y="3047999"/>
            <a:ext cx="10099675" cy="9153524"/>
          </a:xfrm>
        </p:spPr>
        <p:txBody>
          <a:bodyPr/>
          <a:lstStyle/>
          <a:p>
            <a:r>
              <a:rPr lang="sk-SK" dirty="0"/>
              <a:t>Front-end developer s praktickými skúsenosťami s architektúrou </a:t>
            </a:r>
            <a:r>
              <a:rPr lang="sk-SK" dirty="0" err="1"/>
              <a:t>mikroservís</a:t>
            </a:r>
            <a:r>
              <a:rPr lang="sk-SK" dirty="0"/>
              <a:t> a s ich nasadzovaním v </a:t>
            </a:r>
            <a:r>
              <a:rPr lang="sk-SK" dirty="0" err="1"/>
              <a:t>kubernetes</a:t>
            </a:r>
            <a:r>
              <a:rPr lang="sk-SK" dirty="0"/>
              <a:t> klastroch.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20A861-6A4D-FA7D-F08D-8D8F8CD6E5D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0" y="3047999"/>
            <a:ext cx="10096500" cy="9153525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sk-SK" dirty="0"/>
              <a:t>Vyštudoval klasickú archeológiu a pracoval ako archeológ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sk-SK" dirty="0"/>
              <a:t>Neskôr zmenil odbor a pracoval ako sieťový inžinier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sk-SK" dirty="0"/>
              <a:t>Začal vyvíjať automatizačné skripty a postupne prešiel na vývojársku pozíciu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sk-SK" dirty="0"/>
              <a:t>Stal sa front-end developerom, neskôr získal CKAD 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14019FA0-AF71-5184-B3FC-550EF95611E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r>
              <a:rPr lang="sk-SK" dirty="0" err="1"/>
              <a:t>GitOps</a:t>
            </a:r>
            <a:r>
              <a:rPr lang="sk-SK" dirty="0"/>
              <a:t> Workshop, MV SR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21070B66-2BBA-1AC0-94A3-1D4E1994AF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</p:spPr>
        <p:txBody>
          <a:bodyPr/>
          <a:lstStyle/>
          <a:p>
            <a:fld id="{86CB4B4D-7CA3-9044-876B-883B54F8677D}" type="slidenum">
              <a:rPr lang="sk-SK" smtClean="0"/>
              <a:pPr/>
              <a:t>2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0515198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65E13-A1C4-870D-0BC6-EF956A1B5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Obsah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23E9DC-42EB-0711-A23D-16E628202A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083041" y="574675"/>
            <a:ext cx="7193280" cy="11617318"/>
          </a:xfrm>
        </p:spPr>
        <p:txBody>
          <a:bodyPr/>
          <a:lstStyle/>
          <a:p>
            <a:r>
              <a:rPr lang="sk-SK" dirty="0">
                <a:latin typeface="IBM Plex Sans Medm" panose="020B0503050203000203" pitchFamily="34" charset="0"/>
              </a:rPr>
              <a:t>4	Čo je to </a:t>
            </a:r>
            <a:r>
              <a:rPr lang="sk-SK" dirty="0" err="1">
                <a:latin typeface="IBM Plex Sans Medm" panose="020B0503050203000203" pitchFamily="34" charset="0"/>
              </a:rPr>
              <a:t>GitOps</a:t>
            </a:r>
            <a:endParaRPr lang="sk-SK" dirty="0">
              <a:latin typeface="IBM Plex Sans Medm" panose="020B0503050203000203" pitchFamily="34" charset="0"/>
            </a:endParaRPr>
          </a:p>
          <a:p>
            <a:r>
              <a:rPr lang="sk-SK" dirty="0"/>
              <a:t>	Stručná história</a:t>
            </a:r>
          </a:p>
          <a:p>
            <a:r>
              <a:rPr lang="sk-SK" dirty="0"/>
              <a:t>	Základné pojmy</a:t>
            </a:r>
          </a:p>
          <a:p>
            <a:r>
              <a:rPr lang="sk-SK" dirty="0"/>
              <a:t>	</a:t>
            </a:r>
            <a:r>
              <a:rPr lang="sk-SK" dirty="0" err="1"/>
              <a:t>DevOps</a:t>
            </a:r>
            <a:r>
              <a:rPr lang="sk-SK" dirty="0"/>
              <a:t> </a:t>
            </a:r>
            <a:r>
              <a:rPr lang="sk-SK" dirty="0" err="1"/>
              <a:t>vs</a:t>
            </a:r>
            <a:r>
              <a:rPr lang="sk-SK" dirty="0"/>
              <a:t>. </a:t>
            </a:r>
            <a:r>
              <a:rPr lang="sk-SK" dirty="0" err="1"/>
              <a:t>GitOps</a:t>
            </a:r>
            <a:endParaRPr lang="sk-SK" dirty="0"/>
          </a:p>
          <a:p>
            <a:r>
              <a:rPr lang="sk-SK" dirty="0"/>
              <a:t>	YAML</a:t>
            </a:r>
          </a:p>
          <a:p>
            <a:endParaRPr lang="sk-SK" dirty="0"/>
          </a:p>
          <a:p>
            <a:endParaRPr lang="sk-SK" dirty="0"/>
          </a:p>
          <a:p>
            <a:endParaRPr lang="sk-SK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FBBD1B-4D3E-88E3-6FA8-28CEFCA0F6C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6611284" y="574675"/>
            <a:ext cx="7193280" cy="11620500"/>
          </a:xfrm>
        </p:spPr>
        <p:txBody>
          <a:bodyPr/>
          <a:lstStyle/>
          <a:p>
            <a:pPr marL="742950" indent="-742950">
              <a:buFont typeface="Wingdings" pitchFamily="2" charset="2"/>
              <a:buAutoNum type="arabicPlain" startAt="8"/>
            </a:pPr>
            <a:r>
              <a:rPr lang="sk-SK" dirty="0" err="1">
                <a:latin typeface="IBM Plex Sans Medm" panose="020B0503050203000203" pitchFamily="34" charset="0"/>
              </a:rPr>
              <a:t>Tech</a:t>
            </a:r>
            <a:r>
              <a:rPr lang="sk-SK" dirty="0">
                <a:latin typeface="IBM Plex Sans Medm" panose="020B0503050203000203" pitchFamily="34" charset="0"/>
              </a:rPr>
              <a:t> </a:t>
            </a:r>
            <a:r>
              <a:rPr lang="sk-SK" dirty="0" err="1">
                <a:latin typeface="IBM Plex Sans Medm" panose="020B0503050203000203" pitchFamily="34" charset="0"/>
              </a:rPr>
              <a:t>Stack</a:t>
            </a:r>
            <a:endParaRPr lang="sk-SK" dirty="0">
              <a:latin typeface="IBM Plex Sans Medm" panose="020B0503050203000203" pitchFamily="34" charset="0"/>
            </a:endParaRPr>
          </a:p>
          <a:p>
            <a:r>
              <a:rPr lang="sk-SK" dirty="0"/>
              <a:t>	Git</a:t>
            </a:r>
          </a:p>
          <a:p>
            <a:r>
              <a:rPr lang="sk-SK" dirty="0"/>
              <a:t>	</a:t>
            </a:r>
            <a:r>
              <a:rPr lang="sk-SK" dirty="0" err="1"/>
              <a:t>Docker</a:t>
            </a:r>
            <a:r>
              <a:rPr lang="sk-SK" dirty="0"/>
              <a:t>/</a:t>
            </a:r>
            <a:r>
              <a:rPr lang="sk-SK" dirty="0" err="1"/>
              <a:t>Podman</a:t>
            </a:r>
            <a:endParaRPr lang="sk-SK" dirty="0"/>
          </a:p>
          <a:p>
            <a:r>
              <a:rPr lang="sk-SK" dirty="0"/>
              <a:t>	</a:t>
            </a:r>
            <a:r>
              <a:rPr lang="sk-SK" dirty="0" err="1"/>
              <a:t>Kubernetes</a:t>
            </a:r>
            <a:endParaRPr lang="sk-SK" dirty="0"/>
          </a:p>
          <a:p>
            <a:r>
              <a:rPr lang="sk-SK" dirty="0"/>
              <a:t>	</a:t>
            </a:r>
            <a:r>
              <a:rPr lang="sk-SK" dirty="0" err="1"/>
              <a:t>Helm</a:t>
            </a:r>
            <a:br>
              <a:rPr lang="sk-SK" dirty="0"/>
            </a:br>
            <a:r>
              <a:rPr lang="sk-SK" dirty="0"/>
              <a:t>	</a:t>
            </a:r>
            <a:r>
              <a:rPr lang="sk-SK" dirty="0" err="1"/>
              <a:t>Tekton</a:t>
            </a:r>
            <a:endParaRPr lang="sk-SK" dirty="0"/>
          </a:p>
          <a:p>
            <a:r>
              <a:rPr lang="sk-SK" dirty="0"/>
              <a:t>	</a:t>
            </a:r>
            <a:r>
              <a:rPr lang="sk-SK" dirty="0" err="1"/>
              <a:t>ArgoCD</a:t>
            </a:r>
            <a:endParaRPr lang="sk-SK" dirty="0"/>
          </a:p>
          <a:p>
            <a:r>
              <a:rPr lang="sk-SK" dirty="0"/>
              <a:t>	</a:t>
            </a:r>
            <a:r>
              <a:rPr lang="sk-SK" dirty="0" err="1"/>
              <a:t>OpenShift</a:t>
            </a:r>
            <a:endParaRPr lang="sk-SK" dirty="0"/>
          </a:p>
          <a:p>
            <a:endParaRPr lang="sk-SK" dirty="0"/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1DD66032-74A7-5C7F-B556-9CFDA5E820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sk-SK" smtClean="0"/>
              <a:pPr/>
              <a:t>3</a:t>
            </a:fld>
            <a:endParaRPr lang="sk-SK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8B9559-937A-ACD0-49EB-C02FFDF9D6E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r>
              <a:rPr lang="sk-SK" dirty="0" err="1"/>
              <a:t>GitOps</a:t>
            </a:r>
            <a:r>
              <a:rPr lang="sk-SK" dirty="0"/>
              <a:t> Workshop, MV SR</a:t>
            </a:r>
          </a:p>
        </p:txBody>
      </p:sp>
    </p:spTree>
    <p:extLst>
      <p:ext uri="{BB962C8B-B14F-4D97-AF65-F5344CB8AC3E}">
        <p14:creationId xmlns:p14="http://schemas.microsoft.com/office/powerpoint/2010/main" val="3489156826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55A89-31D3-C769-71AD-38E9ADC2B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6491" cy="2663825"/>
          </a:xfrm>
        </p:spPr>
        <p:txBody>
          <a:bodyPr/>
          <a:lstStyle/>
          <a:p>
            <a:r>
              <a:rPr lang="sk-SK" dirty="0"/>
              <a:t>Čo je to </a:t>
            </a:r>
            <a:r>
              <a:rPr lang="sk-SK" dirty="0" err="1"/>
              <a:t>GitOps</a:t>
            </a:r>
            <a:r>
              <a:rPr lang="sk-SK" dirty="0"/>
              <a:t>?</a:t>
            </a:r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41794889-6D85-5EF1-D228-19EEF3359F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sk-SK" smtClean="0"/>
              <a:pPr/>
              <a:t>4</a:t>
            </a:fld>
            <a:endParaRPr lang="sk-SK" dirty="0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758058FD-55FE-14C2-54F7-4C716F103C0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r>
              <a:rPr lang="sk-SK" dirty="0" err="1"/>
              <a:t>GitOps</a:t>
            </a:r>
            <a:r>
              <a:rPr lang="sk-SK" dirty="0"/>
              <a:t> Workshop, MV SR</a:t>
            </a:r>
          </a:p>
        </p:txBody>
      </p:sp>
    </p:spTree>
    <p:extLst>
      <p:ext uri="{BB962C8B-B14F-4D97-AF65-F5344CB8AC3E}">
        <p14:creationId xmlns:p14="http://schemas.microsoft.com/office/powerpoint/2010/main" val="248481365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6CEE3-C191-8A02-9444-EEE0A7A1A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FB0F9-ACA0-3E9C-E735-54A2DC363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3995928"/>
          </a:xfrm>
        </p:spPr>
        <p:txBody>
          <a:bodyPr/>
          <a:lstStyle/>
          <a:p>
            <a:r>
              <a:rPr lang="sk-SK" sz="4200" dirty="0"/>
              <a:t>Stručná história nasadzovania aplikácií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86B87DC-882D-B0F4-7E60-940240246B9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66415" y="576071"/>
            <a:ext cx="4956048" cy="4956048"/>
          </a:xfrm>
        </p:spPr>
        <p:txBody>
          <a:bodyPr/>
          <a:lstStyle/>
          <a:p>
            <a:r>
              <a:rPr lang="sk-SK" dirty="0">
                <a:solidFill>
                  <a:schemeClr val="accent1"/>
                </a:solidFill>
              </a:rPr>
              <a:t>90. roky</a:t>
            </a:r>
            <a:br>
              <a:rPr lang="sk-SK" dirty="0">
                <a:solidFill>
                  <a:schemeClr val="accent1"/>
                </a:solidFill>
              </a:rPr>
            </a:br>
            <a:endParaRPr lang="sk-SK" dirty="0">
              <a:solidFill>
                <a:schemeClr val="accent1"/>
              </a:solidFill>
            </a:endParaRPr>
          </a:p>
          <a:p>
            <a:r>
              <a:rPr lang="sk-SK" dirty="0"/>
              <a:t>Monolity na fyzických serveroch;</a:t>
            </a:r>
          </a:p>
          <a:p>
            <a:r>
              <a:rPr lang="sk-SK" dirty="0"/>
              <a:t>Nasadzovanie: kopírovanie </a:t>
            </a:r>
            <a:r>
              <a:rPr lang="sk-SK" dirty="0" err="1"/>
              <a:t>bináriek</a:t>
            </a:r>
            <a:r>
              <a:rPr lang="sk-SK" dirty="0"/>
              <a:t> na fyzické </a:t>
            </a:r>
            <a:r>
              <a:rPr lang="sk-SK" dirty="0" err="1"/>
              <a:t>servre</a:t>
            </a:r>
            <a:endParaRPr lang="sk-S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0F5F81-1965-FB64-8E1A-AF4E64C134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1"/>
            <a:ext cx="4956048" cy="4956048"/>
          </a:xfrm>
        </p:spPr>
        <p:txBody>
          <a:bodyPr/>
          <a:lstStyle/>
          <a:p>
            <a:r>
              <a:rPr lang="sk-SK" dirty="0">
                <a:solidFill>
                  <a:schemeClr val="accent1"/>
                </a:solidFill>
              </a:rPr>
              <a:t>Prvé desaťročie 21. storočia</a:t>
            </a:r>
            <a:br>
              <a:rPr lang="sk-SK" dirty="0">
                <a:solidFill>
                  <a:schemeClr val="accent1"/>
                </a:solidFill>
              </a:rPr>
            </a:br>
            <a:endParaRPr lang="sk-SK" dirty="0">
              <a:solidFill>
                <a:schemeClr val="accent1"/>
              </a:solidFill>
            </a:endParaRPr>
          </a:p>
          <a:p>
            <a:r>
              <a:rPr lang="sk-SK" dirty="0"/>
              <a:t>Virtuálne stroje a prvé formy SOA;</a:t>
            </a:r>
          </a:p>
          <a:p>
            <a:r>
              <a:rPr lang="sk-SK" dirty="0"/>
              <a:t>Nasadzovanie: balíčky + konfigurácia v každej VM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C3C0F4-6397-C06F-6A8D-0AF092087FD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499" y="576071"/>
            <a:ext cx="4946904" cy="4956048"/>
          </a:xfrm>
        </p:spPr>
        <p:txBody>
          <a:bodyPr/>
          <a:lstStyle/>
          <a:p>
            <a:r>
              <a:rPr lang="sk-SK" dirty="0">
                <a:solidFill>
                  <a:schemeClr val="accent1"/>
                </a:solidFill>
              </a:rPr>
              <a:t>Cca 2013+</a:t>
            </a:r>
            <a:br>
              <a:rPr lang="sk-SK" dirty="0">
                <a:solidFill>
                  <a:schemeClr val="accent1"/>
                </a:solidFill>
              </a:rPr>
            </a:br>
            <a:endParaRPr lang="sk-SK" dirty="0">
              <a:solidFill>
                <a:schemeClr val="accent1"/>
              </a:solidFill>
            </a:endParaRPr>
          </a:p>
          <a:p>
            <a:r>
              <a:rPr lang="sk-SK" dirty="0"/>
              <a:t>Zrod </a:t>
            </a:r>
            <a:r>
              <a:rPr lang="sk-SK" dirty="0" err="1"/>
              <a:t>kontajnerizácie</a:t>
            </a:r>
            <a:r>
              <a:rPr lang="sk-SK" dirty="0"/>
              <a:t>, LXC, neskôr </a:t>
            </a:r>
            <a:r>
              <a:rPr lang="sk-SK" dirty="0" err="1"/>
              <a:t>Docker</a:t>
            </a:r>
            <a:r>
              <a:rPr lang="sk-SK" dirty="0"/>
              <a:t>;</a:t>
            </a:r>
          </a:p>
          <a:p>
            <a:r>
              <a:rPr lang="sk-SK" dirty="0"/>
              <a:t>Liek na “</a:t>
            </a:r>
            <a:r>
              <a:rPr lang="sk-SK" dirty="0" err="1"/>
              <a:t>It</a:t>
            </a:r>
            <a:r>
              <a:rPr lang="sk-SK" dirty="0"/>
              <a:t> </a:t>
            </a:r>
            <a:r>
              <a:rPr lang="sk-SK" dirty="0" err="1"/>
              <a:t>works</a:t>
            </a:r>
            <a:r>
              <a:rPr lang="sk-SK" dirty="0"/>
              <a:t> on my </a:t>
            </a:r>
            <a:r>
              <a:rPr lang="sk-SK" dirty="0" err="1"/>
              <a:t>machine</a:t>
            </a:r>
            <a:r>
              <a:rPr lang="sk-SK" dirty="0"/>
              <a:t>“.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3A96188-295A-F2D8-20C4-59E61D67187F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r>
              <a:rPr lang="sk-SK" dirty="0" err="1"/>
              <a:t>GitOps</a:t>
            </a:r>
            <a:r>
              <a:rPr lang="sk-SK" dirty="0"/>
              <a:t> Workshop, MV SR</a:t>
            </a:r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AF8FC3A8-F389-7C3E-0E41-E07540A901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</p:spPr>
        <p:txBody>
          <a:bodyPr/>
          <a:lstStyle/>
          <a:p>
            <a:fld id="{86CB4B4D-7CA3-9044-876B-883B54F8677D}" type="slidenum">
              <a:rPr lang="sk-SK" smtClean="0"/>
              <a:pPr/>
              <a:t>5</a:t>
            </a:fld>
            <a:endParaRPr lang="sk-SK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34BD0B-68C3-D06F-6303-8F8596957B6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6415" y="6673850"/>
            <a:ext cx="4956048" cy="4956048"/>
          </a:xfrm>
        </p:spPr>
        <p:txBody>
          <a:bodyPr/>
          <a:lstStyle/>
          <a:p>
            <a:r>
              <a:rPr lang="sk-SK" dirty="0">
                <a:solidFill>
                  <a:schemeClr val="accent1"/>
                </a:solidFill>
              </a:rPr>
              <a:t>Cca 2014+</a:t>
            </a:r>
          </a:p>
          <a:p>
            <a:endParaRPr lang="sk-SK" dirty="0">
              <a:solidFill>
                <a:schemeClr val="accent1"/>
              </a:solidFill>
            </a:endParaRPr>
          </a:p>
          <a:p>
            <a:r>
              <a:rPr lang="sk-SK" dirty="0"/>
              <a:t>Prechod k architektúre </a:t>
            </a:r>
            <a:r>
              <a:rPr lang="sk-SK" dirty="0" err="1"/>
              <a:t>mikroservís</a:t>
            </a:r>
            <a:r>
              <a:rPr lang="sk-SK" dirty="0"/>
              <a:t>: Každá ms beží vo </a:t>
            </a:r>
            <a:r>
              <a:rPr lang="sk-SK" dirty="0" err="1"/>
              <a:t>vlasnom</a:t>
            </a:r>
            <a:r>
              <a:rPr lang="sk-SK" dirty="0"/>
              <a:t> kontajneri, má vlastný životný cyklus, technológiu, tím...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54C45F-3AA0-98DC-1FCB-8956AED838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6673850"/>
            <a:ext cx="4956048" cy="4956048"/>
          </a:xfrm>
        </p:spPr>
        <p:txBody>
          <a:bodyPr/>
          <a:lstStyle/>
          <a:p>
            <a:r>
              <a:rPr lang="sk-SK" dirty="0">
                <a:solidFill>
                  <a:schemeClr val="accent1"/>
                </a:solidFill>
              </a:rPr>
              <a:t>2014 - dnes</a:t>
            </a:r>
            <a:br>
              <a:rPr lang="sk-SK" dirty="0">
                <a:solidFill>
                  <a:schemeClr val="accent1"/>
                </a:solidFill>
              </a:rPr>
            </a:br>
            <a:endParaRPr lang="sk-SK" dirty="0">
              <a:solidFill>
                <a:schemeClr val="accent1"/>
              </a:solidFill>
            </a:endParaRPr>
          </a:p>
          <a:p>
            <a:r>
              <a:rPr lang="sk-SK" dirty="0"/>
              <a:t>Orchestrácia kontajnerov – nástup </a:t>
            </a:r>
            <a:r>
              <a:rPr lang="sk-SK" dirty="0" err="1"/>
              <a:t>Kubernetes</a:t>
            </a:r>
            <a:endParaRPr lang="sk-SK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5348610-B891-5EBE-FEE4-0DEAD33F88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499" y="6673850"/>
            <a:ext cx="4946904" cy="4956048"/>
          </a:xfrm>
        </p:spPr>
        <p:txBody>
          <a:bodyPr/>
          <a:lstStyle/>
          <a:p>
            <a:r>
              <a:rPr lang="sk-SK" dirty="0" err="1">
                <a:solidFill>
                  <a:schemeClr val="accent1"/>
                </a:solidFill>
              </a:rPr>
              <a:t>Súčastnosť</a:t>
            </a:r>
            <a:endParaRPr lang="sk-SK" dirty="0">
              <a:solidFill>
                <a:schemeClr val="accent1"/>
              </a:solidFill>
            </a:endParaRPr>
          </a:p>
          <a:p>
            <a:endParaRPr lang="sk-SK" dirty="0">
              <a:solidFill>
                <a:schemeClr val="accent1"/>
              </a:solidFill>
            </a:endParaRPr>
          </a:p>
          <a:p>
            <a:r>
              <a:rPr lang="sk-SK" dirty="0" err="1"/>
              <a:t>Cloud-native</a:t>
            </a:r>
            <a:r>
              <a:rPr lang="sk-SK" dirty="0"/>
              <a:t> ekosystém: aplikácie navrhované priamo pre K8s + CI/CD + </a:t>
            </a:r>
            <a:r>
              <a:rPr lang="sk-SK" dirty="0" err="1"/>
              <a:t>GitOps</a:t>
            </a:r>
            <a:r>
              <a:rPr lang="sk-SK" dirty="0"/>
              <a:t>;</a:t>
            </a:r>
          </a:p>
          <a:p>
            <a:r>
              <a:rPr lang="sk-SK" dirty="0" err="1"/>
              <a:t>Managed</a:t>
            </a:r>
            <a:r>
              <a:rPr lang="sk-SK" dirty="0"/>
              <a:t> K8s</a:t>
            </a:r>
          </a:p>
        </p:txBody>
      </p: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id="{843292F7-6D60-49DA-A44D-2F3A866275E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 bwMode="auto">
          <a:xfrm>
            <a:off x="6096000" y="569913"/>
            <a:ext cx="0" cy="1162526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A4968DBB-C11C-66B8-6C7B-BD43778D7C9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 bwMode="auto">
          <a:xfrm>
            <a:off x="12188952" y="566928"/>
            <a:ext cx="0" cy="1162824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186CBA6F-F28E-0A47-A866-2C13C37ECB3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 bwMode="auto">
          <a:xfrm>
            <a:off x="18288000" y="569913"/>
            <a:ext cx="0" cy="1162526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 descr="Horizontal row divider">
            <a:extLst>
              <a:ext uri="{FF2B5EF4-FFF2-40B4-BE49-F238E27FC236}">
                <a16:creationId xmlns:a16="http://schemas.microsoft.com/office/drawing/2014/main" id="{40569F47-0016-8C84-A642-629C1D11E3B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 bwMode="auto">
          <a:xfrm>
            <a:off x="6096000" y="6096000"/>
            <a:ext cx="17708563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3510997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3542A-EAD5-C1CE-A6C2-1D6587626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DEBB76A8-FC8C-E291-C6AF-5AB33D59AE6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5999" y="576072"/>
            <a:ext cx="6296745" cy="947928"/>
          </a:xfrm>
        </p:spPr>
        <p:txBody>
          <a:bodyPr/>
          <a:lstStyle/>
          <a:p>
            <a:r>
              <a:rPr lang="sk-SK" sz="4200" dirty="0"/>
              <a:t>Základné pojmy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906595-1DD7-6244-C9B8-32F451AC9CC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3"/>
            <a:ext cx="4953000" cy="4948428"/>
          </a:xfrm>
        </p:spPr>
        <p:txBody>
          <a:bodyPr/>
          <a:lstStyle/>
          <a:p>
            <a:r>
              <a:rPr lang="sk-SK" dirty="0">
                <a:solidFill>
                  <a:schemeClr val="accent1"/>
                </a:solidFill>
              </a:rPr>
              <a:t>CI/CD</a:t>
            </a:r>
          </a:p>
          <a:p>
            <a:endParaRPr lang="sk-SK" dirty="0"/>
          </a:p>
          <a:p>
            <a:r>
              <a:rPr lang="sk-SK" dirty="0"/>
              <a:t>Automatizovaný </a:t>
            </a:r>
            <a:r>
              <a:rPr lang="sk-SK" dirty="0" err="1"/>
              <a:t>build</a:t>
            </a:r>
            <a:r>
              <a:rPr lang="sk-SK" dirty="0"/>
              <a:t>, testovanie a nasadzovanie aplikácie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620880-9F4F-DC2B-D928-32B2EC43150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59350" cy="4948427"/>
          </a:xfrm>
        </p:spPr>
        <p:txBody>
          <a:bodyPr/>
          <a:lstStyle/>
          <a:p>
            <a:r>
              <a:rPr lang="sk-SK" dirty="0" err="1">
                <a:solidFill>
                  <a:schemeClr val="accent1"/>
                </a:solidFill>
              </a:rPr>
              <a:t>DevOps</a:t>
            </a:r>
            <a:endParaRPr lang="sk-SK" dirty="0">
              <a:solidFill>
                <a:schemeClr val="accent1"/>
              </a:solidFill>
            </a:endParaRPr>
          </a:p>
          <a:p>
            <a:endParaRPr lang="sk-SK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dirty="0"/>
              <a:t>Spojenie vývoja a </a:t>
            </a:r>
            <a:r>
              <a:rPr lang="sk-SK" dirty="0" err="1"/>
              <a:t>infrašturktúry</a:t>
            </a:r>
            <a:r>
              <a:rPr lang="sk-SK" dirty="0"/>
              <a:t> (operatívy)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dirty="0"/>
              <a:t>Dôraz na automatizáciu, spoluprácu tímov, monitoring a </a:t>
            </a:r>
            <a:r>
              <a:rPr lang="sk-SK" dirty="0" err="1"/>
              <a:t>infra</a:t>
            </a:r>
            <a:r>
              <a:rPr lang="sk-SK" dirty="0"/>
              <a:t> ako kód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383D3C-4B27-7DB4-9DE0-80F88A497E6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80000" y="6670675"/>
            <a:ext cx="4953000" cy="4948428"/>
          </a:xfrm>
        </p:spPr>
        <p:txBody>
          <a:bodyPr/>
          <a:lstStyle/>
          <a:p>
            <a:r>
              <a:rPr lang="sk-SK" dirty="0" err="1">
                <a:solidFill>
                  <a:schemeClr val="accent1"/>
                </a:solidFill>
              </a:rPr>
              <a:t>DevSecOps</a:t>
            </a:r>
            <a:endParaRPr lang="sk-SK" dirty="0">
              <a:solidFill>
                <a:schemeClr val="accent1"/>
              </a:solidFill>
            </a:endParaRPr>
          </a:p>
          <a:p>
            <a:endParaRPr lang="sk-SK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dirty="0" err="1"/>
              <a:t>DevOps</a:t>
            </a:r>
            <a:r>
              <a:rPr lang="sk-SK" dirty="0"/>
              <a:t> rozšírený o vstavanú bezpečnosť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dirty="0"/>
              <a:t>Bezpečnosť je súčasťou životného cyklu</a:t>
            </a:r>
          </a:p>
          <a:p>
            <a:endParaRPr lang="sk-SK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AB709AD-3762-52FC-28D0-0529C58A5ED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6670675"/>
            <a:ext cx="4953000" cy="4948427"/>
          </a:xfrm>
        </p:spPr>
        <p:txBody>
          <a:bodyPr/>
          <a:lstStyle/>
          <a:p>
            <a:r>
              <a:rPr lang="sk-SK" dirty="0" err="1">
                <a:solidFill>
                  <a:schemeClr val="accent1"/>
                </a:solidFill>
              </a:rPr>
              <a:t>GitOps</a:t>
            </a:r>
            <a:endParaRPr lang="sk-SK" dirty="0">
              <a:solidFill>
                <a:schemeClr val="accent1"/>
              </a:solidFill>
            </a:endParaRPr>
          </a:p>
          <a:p>
            <a:endParaRPr lang="sk-SK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dirty="0"/>
              <a:t>Git je jediným zdrojom pravdy tak pre kód aplikácie ako aj pre infraštruktúru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dirty="0"/>
              <a:t>Zmeny v nasadzovaní sa robia cez Git (</a:t>
            </a:r>
            <a:r>
              <a:rPr lang="sk-SK" dirty="0" err="1"/>
              <a:t>pull</a:t>
            </a:r>
            <a:r>
              <a:rPr lang="sk-SK" dirty="0"/>
              <a:t> </a:t>
            </a:r>
            <a:r>
              <a:rPr lang="sk-SK" dirty="0" err="1"/>
              <a:t>request</a:t>
            </a:r>
            <a:r>
              <a:rPr lang="sk-SK" dirty="0"/>
              <a:t>)</a:t>
            </a:r>
          </a:p>
          <a:p>
            <a:endParaRPr lang="sk-SK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528AE42-DFE6-C6D4-F7BD-00F85B30A025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r>
              <a:rPr lang="sk-SK" dirty="0" err="1"/>
              <a:t>GitOps</a:t>
            </a:r>
            <a:r>
              <a:rPr lang="sk-SK" dirty="0"/>
              <a:t> Workshop, MV SR</a:t>
            </a: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6E9DBF8F-9200-3EF4-E10C-98FEFDE137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</p:spPr>
        <p:txBody>
          <a:bodyPr/>
          <a:lstStyle/>
          <a:p>
            <a:fld id="{86CB4B4D-7CA3-9044-876B-883B54F8677D}" type="slidenum">
              <a:rPr lang="sk-SK" smtClean="0"/>
              <a:pPr/>
              <a:t>6</a:t>
            </a:fld>
            <a:endParaRPr lang="sk-SK" dirty="0"/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EE3BAD59-3F25-E809-266D-3814F7E1858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/>
        </p:nvCxnSpPr>
        <p:spPr bwMode="auto">
          <a:xfrm>
            <a:off x="12192000" y="6099175"/>
            <a:ext cx="1162202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 descr="Vertical column divider">
            <a:extLst>
              <a:ext uri="{FF2B5EF4-FFF2-40B4-BE49-F238E27FC236}">
                <a16:creationId xmlns:a16="http://schemas.microsoft.com/office/drawing/2014/main" id="{5151AB76-BED8-DB13-BC19-AAF7787E4B01}"/>
              </a:ext>
            </a:extLst>
          </p:cNvPr>
          <p:cNvCxnSpPr>
            <a:cxnSpLocks/>
          </p:cNvCxnSpPr>
          <p:nvPr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 descr="Vertical column divider">
            <a:extLst>
              <a:ext uri="{FF2B5EF4-FFF2-40B4-BE49-F238E27FC236}">
                <a16:creationId xmlns:a16="http://schemas.microsoft.com/office/drawing/2014/main" id="{39FD07AB-EF0B-51F3-9317-016613AF3ABF}"/>
              </a:ext>
            </a:extLst>
          </p:cNvPr>
          <p:cNvCxnSpPr>
            <a:cxnSpLocks/>
          </p:cNvCxnSpPr>
          <p:nvPr/>
        </p:nvCxnSpPr>
        <p:spPr bwMode="auto">
          <a:xfrm>
            <a:off x="18288000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What is CI/CD?">
            <a:extLst>
              <a:ext uri="{FF2B5EF4-FFF2-40B4-BE49-F238E27FC236}">
                <a16:creationId xmlns:a16="http://schemas.microsoft.com/office/drawing/2014/main" id="{3B1458A4-31AA-0E6D-B3C7-26CA439AF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580" y="4414174"/>
            <a:ext cx="9449096" cy="4513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706510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DA5FF-D363-EFCC-25D4-B2B55F8AF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1E2CA-58F2-5186-242B-9E5EDC132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1525588"/>
          </a:xfrm>
        </p:spPr>
        <p:txBody>
          <a:bodyPr>
            <a:normAutofit/>
          </a:bodyPr>
          <a:lstStyle/>
          <a:p>
            <a:r>
              <a:rPr lang="sk-SK"/>
              <a:t>YAML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A8DF7C-E30E-BAF2-C586-FD39EABB7A0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3041649"/>
            <a:ext cx="4946904" cy="91535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sk-SK" dirty="0"/>
              <a:t>YAML </a:t>
            </a:r>
            <a:r>
              <a:rPr lang="sk-SK" dirty="0" err="1"/>
              <a:t>Ain‘t</a:t>
            </a:r>
            <a:r>
              <a:rPr lang="sk-SK" dirty="0"/>
              <a:t> </a:t>
            </a:r>
            <a:r>
              <a:rPr lang="sk-SK" dirty="0" err="1"/>
              <a:t>Markup</a:t>
            </a:r>
            <a:r>
              <a:rPr lang="sk-SK" dirty="0"/>
              <a:t> </a:t>
            </a:r>
            <a:r>
              <a:rPr lang="sk-SK" dirty="0" err="1"/>
              <a:t>Language</a:t>
            </a:r>
            <a:endParaRPr lang="sk-SK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E6A8E7-E393-4096-9804-F0A8342D58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0675" y="3041649"/>
            <a:ext cx="4951413" cy="9153525"/>
          </a:xfrm>
        </p:spPr>
        <p:txBody>
          <a:bodyPr>
            <a:normAutofit/>
          </a:bodyPr>
          <a:lstStyle/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sk-SK"/>
              <a:t>Formát na serializáciu dát vo forme, ktorá je čitateľná pre človeka.</a:t>
            </a: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sk-SK"/>
              <a:t>Je supersetom JSONu.</a:t>
            </a: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sk-SK"/>
              <a:t>Na vyjadrenie štruktúry dát používa odsadenie.</a:t>
            </a: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sk-SK"/>
              <a:t>Používa sa na písanie konfiguračných súborov.</a:t>
            </a:r>
          </a:p>
          <a:p>
            <a:pPr>
              <a:spcAft>
                <a:spcPts val="600"/>
              </a:spcAft>
            </a:pPr>
            <a:endParaRPr lang="sk-SK"/>
          </a:p>
        </p:txBody>
      </p:sp>
      <p:pic>
        <p:nvPicPr>
          <p:cNvPr id="3" name="Picture Placeholder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34C13EA-0321-D1C1-FD44-BB1C6BB9A906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tretch>
            <a:fillRect/>
          </a:stretch>
        </p:blipFill>
        <p:spPr>
          <a:xfrm>
            <a:off x="12765088" y="1718292"/>
            <a:ext cx="10707723" cy="10279415"/>
          </a:xfrm>
          <a:prstGeom prst="rect">
            <a:avLst/>
          </a:prstGeom>
          <a:noFill/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347D92-6F69-22F4-2C12-D7F7C324F4C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r>
              <a:rPr lang="sk-SK"/>
              <a:t>GitOps Workshop, MV SR</a:t>
            </a:r>
          </a:p>
        </p:txBody>
      </p:sp>
    </p:spTree>
    <p:extLst>
      <p:ext uri="{BB962C8B-B14F-4D97-AF65-F5344CB8AC3E}">
        <p14:creationId xmlns:p14="http://schemas.microsoft.com/office/powerpoint/2010/main" val="1210710854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8BEAB-CF8A-4123-BADE-4713C9178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73626-9077-F293-95A2-42D26829A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6491" cy="2663825"/>
          </a:xfrm>
        </p:spPr>
        <p:txBody>
          <a:bodyPr/>
          <a:lstStyle/>
          <a:p>
            <a:r>
              <a:rPr lang="sk-SK" dirty="0" err="1"/>
              <a:t>GitOps</a:t>
            </a:r>
            <a:r>
              <a:rPr lang="sk-SK" dirty="0"/>
              <a:t> </a:t>
            </a:r>
            <a:r>
              <a:rPr lang="sk-SK" dirty="0" err="1"/>
              <a:t>Tech</a:t>
            </a:r>
            <a:r>
              <a:rPr lang="sk-SK" dirty="0"/>
              <a:t> </a:t>
            </a:r>
            <a:r>
              <a:rPr lang="sk-SK" dirty="0" err="1"/>
              <a:t>Stack</a:t>
            </a:r>
            <a:endParaRPr lang="sk-SK" dirty="0"/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CA751AAA-BECE-BE49-E687-0B0AC95651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sk-SK" smtClean="0"/>
              <a:pPr/>
              <a:t>8</a:t>
            </a:fld>
            <a:endParaRPr lang="sk-SK" dirty="0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943E145-50CE-542F-DD8A-C2EAA5864DE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r>
              <a:rPr lang="sk-SK" dirty="0" err="1"/>
              <a:t>GitOps</a:t>
            </a:r>
            <a:r>
              <a:rPr lang="sk-SK" dirty="0"/>
              <a:t> Workshop, MV SR</a:t>
            </a:r>
          </a:p>
        </p:txBody>
      </p:sp>
    </p:spTree>
    <p:extLst>
      <p:ext uri="{BB962C8B-B14F-4D97-AF65-F5344CB8AC3E}">
        <p14:creationId xmlns:p14="http://schemas.microsoft.com/office/powerpoint/2010/main" val="133238616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67583-D026-6B52-A2E8-D572B9838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9F34E-22B7-68FC-F07A-0E86EF430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sz="4200" dirty="0"/>
              <a:t>Git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F9034C-23F6-0513-32E6-02A3D37205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3047999"/>
            <a:ext cx="4946904" cy="9153525"/>
          </a:xfrm>
        </p:spPr>
        <p:txBody>
          <a:bodyPr/>
          <a:lstStyle/>
          <a:p>
            <a:r>
              <a:rPr lang="sk-SK" dirty="0"/>
              <a:t>Distribuovaný systém riadenia verzií</a:t>
            </a:r>
          </a:p>
          <a:p>
            <a:endParaRPr lang="sk-SK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F7A550-C70A-0EB2-91EA-9B0D04AC21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0675" y="3047999"/>
            <a:ext cx="4951413" cy="9153525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dirty="0"/>
              <a:t>Pôvodne vytvorený pre vývoj jadra </a:t>
            </a:r>
            <a:r>
              <a:rPr lang="sk-SK" dirty="0" err="1"/>
              <a:t>linuxu</a:t>
            </a:r>
            <a:endParaRPr lang="sk-SK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dirty="0"/>
              <a:t>Uľahčuje spoluprácu pri vývoji aplikácie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dirty="0"/>
              <a:t>Efektívne ukladá históriu zmien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dirty="0"/>
              <a:t>Uľahčuje vykonávanie “</a:t>
            </a:r>
            <a:r>
              <a:rPr lang="sk-SK" dirty="0" err="1"/>
              <a:t>Code</a:t>
            </a:r>
            <a:r>
              <a:rPr lang="sk-SK" dirty="0"/>
              <a:t> </a:t>
            </a:r>
            <a:r>
              <a:rPr lang="sk-SK" dirty="0" err="1"/>
              <a:t>Reviews</a:t>
            </a:r>
            <a:r>
              <a:rPr lang="sk-SK" dirty="0"/>
              <a:t>“ a tým pomáha zlepšovať kvalitu kódu</a:t>
            </a:r>
          </a:p>
          <a:p>
            <a:endParaRPr lang="sk-SK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AF5508-2C8B-665D-FE15-E4FD9A566B0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2422" y="12823825"/>
            <a:ext cx="4956176" cy="381000"/>
          </a:xfrm>
        </p:spPr>
        <p:txBody>
          <a:bodyPr/>
          <a:lstStyle/>
          <a:p>
            <a:r>
              <a:rPr lang="sk-SK" dirty="0" err="1"/>
              <a:t>GitOps</a:t>
            </a:r>
            <a:r>
              <a:rPr lang="sk-SK" dirty="0"/>
              <a:t> Workshop, MV SR</a:t>
            </a:r>
          </a:p>
        </p:txBody>
      </p:sp>
      <p:pic>
        <p:nvPicPr>
          <p:cNvPr id="23" name="Picture Placeholder 22" descr="A close up of a logo&#10;&#10;AI-generated content may be incorrect.">
            <a:extLst>
              <a:ext uri="{FF2B5EF4-FFF2-40B4-BE49-F238E27FC236}">
                <a16:creationId xmlns:a16="http://schemas.microsoft.com/office/drawing/2014/main" id="{550B42FA-5A1A-46F1-5B12-9B4BA76C5EA2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2"/>
          <a:srcRect/>
          <a:stretch>
            <a:fillRect/>
          </a:stretch>
        </p:blipFill>
        <p:spPr>
          <a:xfrm>
            <a:off x="12765089" y="5323958"/>
            <a:ext cx="11046086" cy="4612523"/>
          </a:xfrm>
          <a:noFill/>
        </p:spPr>
      </p:pic>
    </p:spTree>
    <p:extLst>
      <p:ext uri="{BB962C8B-B14F-4D97-AF65-F5344CB8AC3E}">
        <p14:creationId xmlns:p14="http://schemas.microsoft.com/office/powerpoint/2010/main" val="1257130360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7887E-1A47-36BF-0835-02B98FCF5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60CFB-5018-8E9A-CF90-8A461471B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sz="4200" dirty="0" err="1"/>
              <a:t>Docker</a:t>
            </a:r>
            <a:r>
              <a:rPr lang="sk-SK" sz="4200" dirty="0"/>
              <a:t> (</a:t>
            </a:r>
            <a:r>
              <a:rPr lang="sk-SK" sz="4200" dirty="0" err="1"/>
              <a:t>Podman</a:t>
            </a:r>
            <a:r>
              <a:rPr lang="sk-SK" sz="4200" dirty="0"/>
              <a:t>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24B55D-4C85-DC78-5EB0-05A540E520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3047999"/>
            <a:ext cx="4946904" cy="9153525"/>
          </a:xfrm>
        </p:spPr>
        <p:txBody>
          <a:bodyPr/>
          <a:lstStyle/>
          <a:p>
            <a:r>
              <a:rPr lang="sk-SK" dirty="0" err="1"/>
              <a:t>Docker</a:t>
            </a:r>
            <a:r>
              <a:rPr lang="sk-SK" dirty="0"/>
              <a:t> je platforma pomáhajúca vývojárom zostaviť, zdieľať a spúšťať aplikácie v kontajneroch </a:t>
            </a:r>
          </a:p>
          <a:p>
            <a:endParaRPr lang="sk-SK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338E7E-2BAB-3FD2-006A-E91B2852DD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0675" y="3047999"/>
            <a:ext cx="4951413" cy="9153525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dirty="0"/>
              <a:t>Súbor produktov typu </a:t>
            </a:r>
            <a:r>
              <a:rPr lang="sk-SK" dirty="0" err="1"/>
              <a:t>PaaS</a:t>
            </a:r>
            <a:r>
              <a:rPr lang="sk-SK" dirty="0"/>
              <a:t>, ktoré využívajú virtualizáciu na úrovni operačného systému.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dirty="0"/>
              <a:t>Umožňuje nasadzovanie aplikácií v odľahčených kontajneroch, ktoré pre svoj chod využívajú linuxové jadro </a:t>
            </a:r>
            <a:r>
              <a:rPr lang="sk-SK" dirty="0" err="1"/>
              <a:t>Docker</a:t>
            </a:r>
            <a:r>
              <a:rPr lang="sk-SK" dirty="0"/>
              <a:t> </a:t>
            </a:r>
            <a:r>
              <a:rPr lang="sk-SK" dirty="0" err="1"/>
              <a:t>Engine</a:t>
            </a:r>
            <a:r>
              <a:rPr lang="sk-SK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dirty="0"/>
              <a:t>Umožňuje konzistentné fungovanie aplikácie naprieč prostrediami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dirty="0"/>
              <a:t>Aplikácie bežiace v kontajneroch sú do seba izolované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dirty="0" err="1"/>
              <a:t>Podman</a:t>
            </a:r>
            <a:r>
              <a:rPr lang="sk-SK" dirty="0"/>
              <a:t> je voľne stiahnuteľná alternatíva k </a:t>
            </a:r>
            <a:r>
              <a:rPr lang="sk-SK" dirty="0" err="1"/>
              <a:t>Dockeru</a:t>
            </a:r>
            <a:r>
              <a:rPr lang="sk-SK" dirty="0"/>
              <a:t> od </a:t>
            </a:r>
            <a:r>
              <a:rPr lang="sk-SK" dirty="0" err="1"/>
              <a:t>RedHatu</a:t>
            </a:r>
            <a:endParaRPr lang="sk-SK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B4FD4E-9664-E507-54A2-923852E86C0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2422" y="12823825"/>
            <a:ext cx="4956176" cy="381000"/>
          </a:xfrm>
        </p:spPr>
        <p:txBody>
          <a:bodyPr/>
          <a:lstStyle/>
          <a:p>
            <a:r>
              <a:rPr lang="sk-SK" dirty="0" err="1"/>
              <a:t>GitOps</a:t>
            </a:r>
            <a:r>
              <a:rPr lang="sk-SK" dirty="0"/>
              <a:t> Workshop, MV SR</a:t>
            </a:r>
          </a:p>
        </p:txBody>
      </p:sp>
      <p:pic>
        <p:nvPicPr>
          <p:cNvPr id="10" name="Picture Placeholder 9" descr="A blue letters on a black background&#10;&#10;AI-generated content may be incorrect.">
            <a:extLst>
              <a:ext uri="{FF2B5EF4-FFF2-40B4-BE49-F238E27FC236}">
                <a16:creationId xmlns:a16="http://schemas.microsoft.com/office/drawing/2014/main" id="{03DD2954-8562-562B-BE38-953E18D9E137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2"/>
          <a:srcRect/>
          <a:stretch>
            <a:fillRect/>
          </a:stretch>
        </p:blipFill>
        <p:spPr>
          <a:xfrm>
            <a:off x="12765088" y="5443493"/>
            <a:ext cx="11046087" cy="2829014"/>
          </a:xfrm>
          <a:noFill/>
        </p:spPr>
      </p:pic>
    </p:spTree>
    <p:extLst>
      <p:ext uri="{BB962C8B-B14F-4D97-AF65-F5344CB8AC3E}">
        <p14:creationId xmlns:p14="http://schemas.microsoft.com/office/powerpoint/2010/main" val="3220108679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>
            <a:extLst>
              <a:ext uri="{FF2B5EF4-FFF2-40B4-BE49-F238E27FC236}">
                <a16:creationId xmlns:a16="http://schemas.microsoft.com/office/drawing/2014/main" id="{ACF321A1-B618-6AA8-0A05-9F711CD0150E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tretch>
            <a:fillRect/>
          </a:stretch>
        </p:blipFill>
        <p:spPr>
          <a:xfrm>
            <a:off x="795636" y="2451100"/>
            <a:ext cx="22795902" cy="881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8403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26E60-EC8D-D967-E1BC-7406B022F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F623A-AC00-5668-60D7-80F6264BE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sz="4200" dirty="0" err="1"/>
              <a:t>Kubernetes</a:t>
            </a:r>
            <a:endParaRPr lang="sk-SK" sz="42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CA8011-557E-C51B-E7EF-829A2A7F3E3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3047999"/>
            <a:ext cx="4946904" cy="9153525"/>
          </a:xfrm>
        </p:spPr>
        <p:txBody>
          <a:bodyPr/>
          <a:lstStyle/>
          <a:p>
            <a:r>
              <a:rPr lang="sk-SK" dirty="0" err="1"/>
              <a:t>Open</a:t>
            </a:r>
            <a:r>
              <a:rPr lang="sk-SK" dirty="0"/>
              <a:t> </a:t>
            </a:r>
            <a:r>
              <a:rPr lang="sk-SK" dirty="0" err="1"/>
              <a:t>source</a:t>
            </a:r>
            <a:r>
              <a:rPr lang="sk-SK" dirty="0"/>
              <a:t> systém pre orchestráciu kontajnerov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746090-25C4-D568-C4AA-541A5B70C5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0675" y="3047999"/>
            <a:ext cx="4951413" cy="9153525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dirty="0"/>
              <a:t>Škálovateľnosť a vysoká dostupnosť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dirty="0"/>
              <a:t>Deklaratívne riadenie a automatizácia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dirty="0"/>
              <a:t>Izolácia a </a:t>
            </a:r>
            <a:r>
              <a:rPr lang="sk-SK" dirty="0" err="1"/>
              <a:t>multi-tenancy</a:t>
            </a:r>
            <a:endParaRPr lang="sk-SK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dirty="0"/>
              <a:t>Portability a štandardizácia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dirty="0"/>
              <a:t>Bohatý ekosystém a rozšíriteľnosť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FB33CF-2F96-417D-5E83-BD297B74CDF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2422" y="12823825"/>
            <a:ext cx="4956176" cy="381000"/>
          </a:xfrm>
        </p:spPr>
        <p:txBody>
          <a:bodyPr/>
          <a:lstStyle/>
          <a:p>
            <a:r>
              <a:rPr lang="sk-SK" dirty="0" err="1"/>
              <a:t>GitOps</a:t>
            </a:r>
            <a:r>
              <a:rPr lang="sk-SK" dirty="0"/>
              <a:t> Workshop, MV SR</a:t>
            </a:r>
          </a:p>
        </p:txBody>
      </p:sp>
      <p:pic>
        <p:nvPicPr>
          <p:cNvPr id="14" name="Picture Placeholder 1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BB4C358-FD25-EAD4-A2FB-E4C1E7199EF8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12765088" y="5882142"/>
            <a:ext cx="11046087" cy="1951715"/>
          </a:xfr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C9144A-5AA3-5275-AFB6-EC0A21246A62}"/>
              </a:ext>
            </a:extLst>
          </p:cNvPr>
          <p:cNvSpPr txBox="1"/>
          <p:nvPr/>
        </p:nvSpPr>
        <p:spPr>
          <a:xfrm>
            <a:off x="-4288971" y="-3352800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indent="-446749" algn="l" defTabSz="2438400">
              <a:spcBef>
                <a:spcPts val="2900"/>
              </a:spcBef>
              <a:buSzPct val="100000"/>
              <a:buFontTx/>
              <a:buChar char="–"/>
            </a:pPr>
            <a:endParaRPr lang="en-SK" kern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390895089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>
            <a:extLst>
              <a:ext uri="{FF2B5EF4-FFF2-40B4-BE49-F238E27FC236}">
                <a16:creationId xmlns:a16="http://schemas.microsoft.com/office/drawing/2014/main" id="{2C9E6EBC-E6CB-00E5-9185-02C099994B70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tretch>
            <a:fillRect/>
          </a:stretch>
        </p:blipFill>
        <p:spPr>
          <a:xfrm>
            <a:off x="2713037" y="889000"/>
            <a:ext cx="18961100" cy="1193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21149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758C8-673B-B4E2-330D-665A19E92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61E27-FA54-8A8B-208D-E71813838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sz="4200" dirty="0" err="1"/>
              <a:t>Helm</a:t>
            </a:r>
            <a:endParaRPr lang="sk-SK" sz="42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6AA583-6F5D-86A8-945E-AB1DD94B2D1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3047999"/>
            <a:ext cx="4946904" cy="9153525"/>
          </a:xfrm>
        </p:spPr>
        <p:txBody>
          <a:bodyPr/>
          <a:lstStyle/>
          <a:p>
            <a:r>
              <a:rPr lang="sk-SK" dirty="0"/>
              <a:t>Správca balíčkov pre </a:t>
            </a:r>
            <a:r>
              <a:rPr lang="sk-SK" dirty="0" err="1"/>
              <a:t>Kubernetes</a:t>
            </a:r>
            <a:endParaRPr lang="sk-SK" dirty="0"/>
          </a:p>
          <a:p>
            <a:endParaRPr lang="sk-SK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08DCE0-927E-32AB-3772-EC56598C10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0675" y="3047999"/>
            <a:ext cx="4951413" cy="9153525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dirty="0"/>
              <a:t>Inštalácia, aktualizácia a odstraňovanie aplikácií.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dirty="0"/>
              <a:t>Vyhľadávanie a použitie existujúcich balíkov.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dirty="0"/>
              <a:t>Vytvorenie a zdieľanie vlastných balíkov.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dirty="0"/>
              <a:t>Spravovanie verzie balíkov.</a:t>
            </a:r>
          </a:p>
          <a:p>
            <a:endParaRPr lang="sk-SK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CC6C2D-0880-01BC-5D75-23CFD3732AB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2422" y="12823825"/>
            <a:ext cx="4956176" cy="381000"/>
          </a:xfrm>
        </p:spPr>
        <p:txBody>
          <a:bodyPr/>
          <a:lstStyle/>
          <a:p>
            <a:r>
              <a:rPr lang="sk-SK" dirty="0" err="1"/>
              <a:t>GitOps</a:t>
            </a:r>
            <a:r>
              <a:rPr lang="sk-SK" dirty="0"/>
              <a:t> Workshop, MV SR</a:t>
            </a: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1AD42435-E916-D1F4-3592-5521F6D26E15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l="6087" r="6087"/>
          <a:stretch>
            <a:fillRect/>
          </a:stretch>
        </p:blipFill>
        <p:spPr>
          <a:xfrm>
            <a:off x="14967284" y="3253476"/>
            <a:ext cx="6331486" cy="7209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944416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410C7-6B4D-56CA-A2D0-A30462A00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64946-AD4E-DEAD-068B-9C6F2D5B8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sz="4200" dirty="0" err="1"/>
              <a:t>Tekton</a:t>
            </a:r>
            <a:endParaRPr lang="sk-SK" sz="42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5124A2-5E59-D8F7-0C59-5881EE2B294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3047999"/>
            <a:ext cx="4946904" cy="9153525"/>
          </a:xfrm>
        </p:spPr>
        <p:txBody>
          <a:bodyPr/>
          <a:lstStyle/>
          <a:p>
            <a:r>
              <a:rPr lang="sk-SK" dirty="0"/>
              <a:t>Nástroj na vytváranie a správu CI/CD procesov priamo v prostredí K8s</a:t>
            </a:r>
          </a:p>
          <a:p>
            <a:endParaRPr lang="sk-SK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F83474-13C2-C3A0-02EF-985A934435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0675" y="3047999"/>
            <a:ext cx="4951413" cy="9153525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dirty="0"/>
              <a:t>Beží priamo v K8s klastri.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dirty="0"/>
              <a:t>Používa </a:t>
            </a:r>
            <a:r>
              <a:rPr lang="sk-SK" dirty="0" err="1"/>
              <a:t>Kubernetes</a:t>
            </a:r>
            <a:r>
              <a:rPr lang="sk-SK" dirty="0"/>
              <a:t> CRD na definovanie procesov, úloh a krokov vo formáte YAML.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dirty="0"/>
              <a:t>Stavebné bloky sú </a:t>
            </a:r>
            <a:r>
              <a:rPr lang="sk-SK" dirty="0" err="1"/>
              <a:t>znovupoužiteľné</a:t>
            </a:r>
            <a:endParaRPr lang="sk-SK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dirty="0"/>
              <a:t>Flexibilita </a:t>
            </a:r>
            <a:r>
              <a:rPr lang="sk-SK" dirty="0" err="1"/>
              <a:t>triggerov</a:t>
            </a:r>
            <a:r>
              <a:rPr lang="sk-SK" dirty="0"/>
              <a:t> (Git </a:t>
            </a:r>
            <a:r>
              <a:rPr lang="sk-SK" dirty="0" err="1"/>
              <a:t>push</a:t>
            </a:r>
            <a:r>
              <a:rPr lang="sk-SK" dirty="0"/>
              <a:t>, PR...) – ideálne pre </a:t>
            </a:r>
            <a:r>
              <a:rPr lang="sk-SK" dirty="0" err="1"/>
              <a:t>GitOps</a:t>
            </a:r>
            <a:r>
              <a:rPr lang="sk-SK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dirty="0" err="1"/>
              <a:t>Vendor-neutral</a:t>
            </a:r>
            <a:r>
              <a:rPr lang="sk-SK" dirty="0"/>
              <a:t> </a:t>
            </a:r>
            <a:r>
              <a:rPr lang="sk-SK" dirty="0" err="1"/>
              <a:t>open</a:t>
            </a:r>
            <a:r>
              <a:rPr lang="sk-SK" dirty="0"/>
              <a:t> </a:t>
            </a:r>
            <a:r>
              <a:rPr lang="sk-SK" dirty="0" err="1"/>
              <a:t>source</a:t>
            </a:r>
            <a:r>
              <a:rPr lang="sk-SK" dirty="0"/>
              <a:t> štandard.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dirty="0"/>
              <a:t>Integrácia s nástrojmi tretích strán (</a:t>
            </a:r>
            <a:r>
              <a:rPr lang="sk-SK" dirty="0" err="1"/>
              <a:t>GitLab</a:t>
            </a:r>
            <a:r>
              <a:rPr lang="sk-SK" dirty="0"/>
              <a:t>/</a:t>
            </a:r>
            <a:r>
              <a:rPr lang="sk-SK" dirty="0" err="1"/>
              <a:t>GitHub</a:t>
            </a:r>
            <a:r>
              <a:rPr lang="sk-SK" dirty="0"/>
              <a:t>, </a:t>
            </a:r>
            <a:r>
              <a:rPr lang="sk-SK" dirty="0" err="1"/>
              <a:t>SonarQube</a:t>
            </a:r>
            <a:r>
              <a:rPr lang="sk-SK" dirty="0"/>
              <a:t>, </a:t>
            </a:r>
            <a:r>
              <a:rPr lang="sk-SK" dirty="0" err="1"/>
              <a:t>ArgoCD</a:t>
            </a:r>
            <a:r>
              <a:rPr lang="sk-SK" dirty="0"/>
              <a:t>).</a:t>
            </a:r>
          </a:p>
          <a:p>
            <a:endParaRPr lang="sk-SK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A9BB16-8553-2392-0659-C8B4F809BDB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2422" y="12823825"/>
            <a:ext cx="4956176" cy="381000"/>
          </a:xfrm>
        </p:spPr>
        <p:txBody>
          <a:bodyPr/>
          <a:lstStyle/>
          <a:p>
            <a:r>
              <a:rPr lang="sk-SK" dirty="0" err="1"/>
              <a:t>GitOps</a:t>
            </a:r>
            <a:r>
              <a:rPr lang="sk-SK" dirty="0"/>
              <a:t> Workshop, MV SR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62A4D934-EDAF-AD20-7FFC-3DF7B74EB7BF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2"/>
          <a:srcRect/>
          <a:stretch>
            <a:fillRect/>
          </a:stretch>
        </p:blipFill>
        <p:spPr>
          <a:xfrm>
            <a:off x="12765088" y="5853652"/>
            <a:ext cx="11046088" cy="354221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57253361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1C9A6-2406-EE23-58E1-DC805A53C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7F065-FDD9-83E4-A971-C9905A194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sz="4200" dirty="0" err="1"/>
              <a:t>ArgoCD</a:t>
            </a:r>
            <a:endParaRPr lang="sk-SK" sz="42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8BFBC1-30BC-1031-47B2-6B70EEEF33C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3047999"/>
            <a:ext cx="4946904" cy="9153525"/>
          </a:xfrm>
        </p:spPr>
        <p:txBody>
          <a:bodyPr/>
          <a:lstStyle/>
          <a:p>
            <a:r>
              <a:rPr lang="sk-SK" dirty="0"/>
              <a:t>Nástroj pre kontinuálne doručovanie (CD) založený na princípoch </a:t>
            </a:r>
            <a:r>
              <a:rPr lang="sk-SK" dirty="0" err="1"/>
              <a:t>GitOps</a:t>
            </a:r>
            <a:r>
              <a:rPr lang="sk-SK" dirty="0"/>
              <a:t>; Git repozitár ako „single </a:t>
            </a:r>
            <a:r>
              <a:rPr lang="sk-SK" dirty="0" err="1"/>
              <a:t>source</a:t>
            </a:r>
            <a:r>
              <a:rPr lang="sk-SK" dirty="0"/>
              <a:t> of </a:t>
            </a:r>
            <a:r>
              <a:rPr lang="sk-SK" dirty="0" err="1"/>
              <a:t>truth</a:t>
            </a:r>
            <a:r>
              <a:rPr lang="sk-SK" dirty="0"/>
              <a:t>“. </a:t>
            </a:r>
          </a:p>
          <a:p>
            <a:endParaRPr lang="sk-SK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BBE45E-AE5C-6209-014C-6E7C1E8819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0675" y="3047999"/>
            <a:ext cx="4951413" cy="9153525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dirty="0"/>
              <a:t>Monitoruje bežiace aplikácie.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dirty="0"/>
              <a:t>Sleduje Git repozitár, v ktorom je deklaratívne špecifikovaný želaný stav aplikácie.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dirty="0"/>
              <a:t>Pri zmenách v Git </a:t>
            </a:r>
            <a:r>
              <a:rPr lang="sk-SK" dirty="0" err="1"/>
              <a:t>repozitáry</a:t>
            </a:r>
            <a:r>
              <a:rPr lang="sk-SK" dirty="0"/>
              <a:t> porovnáva momentálny stav aplikácií s požadovaným stavom.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dirty="0"/>
              <a:t>Reportuje a vizualizuje rozdiely medzi aktuálnym a požadovaným stavom a ponúka prostriedky na ich automatické alebo manuálne synchronizovanie.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28AF7D-4C96-FFDC-7288-081E9CB7AFA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2422" y="12823825"/>
            <a:ext cx="4956176" cy="381000"/>
          </a:xfrm>
        </p:spPr>
        <p:txBody>
          <a:bodyPr/>
          <a:lstStyle/>
          <a:p>
            <a:r>
              <a:rPr lang="sk-SK" dirty="0" err="1"/>
              <a:t>GitOps</a:t>
            </a:r>
            <a:r>
              <a:rPr lang="sk-SK" dirty="0"/>
              <a:t> Workshop, MV SR</a:t>
            </a:r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24E14E1B-7B8D-AA4D-F32D-33223C057A6D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l="6087" r="6087"/>
          <a:stretch>
            <a:fillRect/>
          </a:stretch>
        </p:blipFill>
        <p:spPr>
          <a:xfrm>
            <a:off x="14661729" y="2749777"/>
            <a:ext cx="7216253" cy="821644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85383144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6B80D-437E-4838-6874-5C9263FC0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E27F7-3945-7911-EC3A-9210B7FF9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sz="4200" dirty="0" err="1"/>
              <a:t>OpenShift</a:t>
            </a:r>
            <a:endParaRPr lang="sk-SK" sz="42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608A0D-4AA8-A932-45AE-072418257C8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3047999"/>
            <a:ext cx="4946904" cy="9153525"/>
          </a:xfrm>
        </p:spPr>
        <p:txBody>
          <a:bodyPr/>
          <a:lstStyle/>
          <a:p>
            <a:r>
              <a:rPr lang="sk-SK" dirty="0" err="1"/>
              <a:t>Enterprice-ready</a:t>
            </a:r>
            <a:r>
              <a:rPr lang="sk-SK" dirty="0"/>
              <a:t> </a:t>
            </a:r>
            <a:r>
              <a:rPr lang="sk-SK" dirty="0" err="1"/>
              <a:t>Kubernetes</a:t>
            </a:r>
            <a:endParaRPr lang="sk-SK" dirty="0"/>
          </a:p>
          <a:p>
            <a:endParaRPr lang="sk-SK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4C3B07-0B74-E424-0B99-A6AFB3D45F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0675" y="3047999"/>
            <a:ext cx="4951413" cy="9153525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 err="1"/>
              <a:t>Integrovaný</a:t>
            </a:r>
            <a:r>
              <a:rPr lang="en-GB" dirty="0"/>
              <a:t> Kubernetes s </a:t>
            </a:r>
            <a:r>
              <a:rPr lang="en-GB" dirty="0" err="1"/>
              <a:t>overenou</a:t>
            </a:r>
            <a:r>
              <a:rPr lang="en-GB" dirty="0"/>
              <a:t> </a:t>
            </a:r>
            <a:r>
              <a:rPr lang="en-GB" dirty="0" err="1"/>
              <a:t>konfiguráciou</a:t>
            </a:r>
            <a:r>
              <a:rPr lang="en-GB" dirty="0"/>
              <a:t>, </a:t>
            </a:r>
            <a:r>
              <a:rPr lang="en-GB" dirty="0" err="1"/>
              <a:t>updatmi</a:t>
            </a:r>
            <a:r>
              <a:rPr lang="en-GB" dirty="0"/>
              <a:t> a </a:t>
            </a:r>
            <a:r>
              <a:rPr lang="en-GB" dirty="0" err="1"/>
              <a:t>podporou</a:t>
            </a:r>
            <a:r>
              <a:rPr lang="en-GB" dirty="0"/>
              <a:t> od Red Hatu.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 err="1"/>
              <a:t>Nástroje</a:t>
            </a:r>
            <a:r>
              <a:rPr lang="en-GB" dirty="0"/>
              <a:t> pre </a:t>
            </a:r>
            <a:r>
              <a:rPr lang="en-GB" dirty="0" err="1"/>
              <a:t>vývojárov</a:t>
            </a:r>
            <a:r>
              <a:rPr lang="en-GB" dirty="0"/>
              <a:t>: </a:t>
            </a:r>
            <a:r>
              <a:rPr lang="en-GB" dirty="0" err="1"/>
              <a:t>webová</a:t>
            </a:r>
            <a:r>
              <a:rPr lang="en-GB" dirty="0"/>
              <a:t> </a:t>
            </a:r>
            <a:r>
              <a:rPr lang="en-GB" dirty="0" err="1"/>
              <a:t>konzola</a:t>
            </a:r>
            <a:r>
              <a:rPr lang="en-GB" dirty="0"/>
              <a:t>, </a:t>
            </a:r>
            <a:r>
              <a:rPr lang="en-GB" dirty="0" err="1"/>
              <a:t>oc</a:t>
            </a:r>
            <a:r>
              <a:rPr lang="en-GB" dirty="0"/>
              <a:t> CLI, </a:t>
            </a:r>
            <a:r>
              <a:rPr lang="en-GB" dirty="0" err="1"/>
              <a:t>šablóny</a:t>
            </a:r>
            <a:r>
              <a:rPr lang="en-GB" dirty="0"/>
              <a:t>, </a:t>
            </a:r>
            <a:r>
              <a:rPr lang="en-GB" dirty="0" err="1"/>
              <a:t>buildy</a:t>
            </a:r>
            <a:r>
              <a:rPr lang="en-GB" dirty="0"/>
              <a:t>, image streamy, OpenShift Pipelines (</a:t>
            </a:r>
            <a:r>
              <a:rPr lang="en-GB" dirty="0" err="1"/>
              <a:t>Tekton</a:t>
            </a:r>
            <a:r>
              <a:rPr lang="en-GB" dirty="0"/>
              <a:t>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RBAC, Security Context Constraints, image policy, </a:t>
            </a:r>
            <a:r>
              <a:rPr lang="en-GB" dirty="0" err="1"/>
              <a:t>centralizované</a:t>
            </a:r>
            <a:r>
              <a:rPr lang="en-GB" dirty="0"/>
              <a:t> </a:t>
            </a:r>
            <a:r>
              <a:rPr lang="en-GB" dirty="0" err="1"/>
              <a:t>riadenie</a:t>
            </a:r>
            <a:r>
              <a:rPr lang="en-GB" dirty="0"/>
              <a:t> </a:t>
            </a:r>
            <a:r>
              <a:rPr lang="en-GB" dirty="0" err="1"/>
              <a:t>prístupov</a:t>
            </a:r>
            <a:r>
              <a:rPr lang="en-GB" dirty="0"/>
              <a:t> a </a:t>
            </a:r>
            <a:r>
              <a:rPr lang="en-GB" dirty="0" err="1"/>
              <a:t>zdrojov</a:t>
            </a:r>
            <a:r>
              <a:rPr lang="en-GB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OpenShift Pipelines, OpenShift </a:t>
            </a:r>
            <a:r>
              <a:rPr lang="en-GB" dirty="0" err="1"/>
              <a:t>GitOps</a:t>
            </a:r>
            <a:r>
              <a:rPr lang="en-GB" dirty="0"/>
              <a:t> (</a:t>
            </a:r>
            <a:r>
              <a:rPr lang="en-GB" dirty="0" err="1"/>
              <a:t>ArgoCD</a:t>
            </a:r>
            <a:r>
              <a:rPr lang="en-GB" dirty="0"/>
              <a:t>), </a:t>
            </a:r>
            <a:r>
              <a:rPr lang="en-GB" dirty="0" err="1"/>
              <a:t>jednoduchá</a:t>
            </a:r>
            <a:r>
              <a:rPr lang="en-GB" dirty="0"/>
              <a:t> </a:t>
            </a:r>
            <a:r>
              <a:rPr lang="en-GB" dirty="0" err="1"/>
              <a:t>integrácia</a:t>
            </a:r>
            <a:r>
              <a:rPr lang="en-GB" dirty="0"/>
              <a:t> s Git </a:t>
            </a:r>
            <a:r>
              <a:rPr lang="en-GB" dirty="0" err="1"/>
              <a:t>repozitármi</a:t>
            </a:r>
            <a:r>
              <a:rPr lang="en-GB" dirty="0"/>
              <a:t>.</a:t>
            </a:r>
            <a:endParaRPr lang="sk-SK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8DF168-5820-4520-A02C-806A3A0716E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2422" y="12823825"/>
            <a:ext cx="4956176" cy="381000"/>
          </a:xfrm>
        </p:spPr>
        <p:txBody>
          <a:bodyPr/>
          <a:lstStyle/>
          <a:p>
            <a:r>
              <a:rPr lang="sk-SK" dirty="0" err="1"/>
              <a:t>GitOps</a:t>
            </a:r>
            <a:r>
              <a:rPr lang="sk-SK" dirty="0"/>
              <a:t> Workshop, MV SR</a:t>
            </a: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D7762E74-7A9D-B914-6973-E8088E087FAD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l="2834" r="2834"/>
          <a:stretch>
            <a:fillRect/>
          </a:stretch>
        </p:blipFill>
        <p:spPr>
          <a:xfrm>
            <a:off x="14951528" y="3258000"/>
            <a:ext cx="6323539" cy="72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19321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>
            <a:extLst>
              <a:ext uri="{FF2B5EF4-FFF2-40B4-BE49-F238E27FC236}">
                <a16:creationId xmlns:a16="http://schemas.microsoft.com/office/drawing/2014/main" id="{1A281B4D-36E5-C0FF-2DC1-B8CDD5E2CDE8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tretch>
            <a:fillRect/>
          </a:stretch>
        </p:blipFill>
        <p:spPr>
          <a:xfrm>
            <a:off x="3092062" y="513314"/>
            <a:ext cx="18203049" cy="12689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810759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7577907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IBM presentation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1730368918050" id="{31DF0289-1028-6943-A020-36845773A867}" vid="{420903E5-FF27-9C4D-AB14-78ABBED49DF3}"/>
    </a:ext>
  </a:extLst>
</a:theme>
</file>

<file path=ppt/theme/theme2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ppt/theme/theme3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ox_x003a_02_PublishedAssets xmlns="583b3768-e370-44a4-8037-087c689a0545">
      <Url>https://ibm.box.com/s/zojjyxami5ot987ficfrh8iugmwo23b4</Url>
      <Description>Plex Embed v2.0</Description>
    </Box_x003a_02_PublishedAssets>
    <Completefilename xmlns="583b3768-e370-44a4-8037-087c689a0545">IBM_presentation_template_v_2_0_Plex_embed</Completefilename>
    <BoxLink xmlns="583b3768-e370-44a4-8037-087c689a0545">
      <Url>https://ibm.box.com/s/2kogrzdi4aedyxfhp9i870tyz9derbwg</Url>
      <Description>Plex Embed v2.0 Backup</Description>
    </BoxLink>
    <Order0 xmlns="583b3768-e370-44a4-8037-087c689a0545">1</Order0>
    <Thumbnail xmlns="583b3768-e370-44a4-8037-087c689a054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1694EF421EE7B4987B547F22F2A1DA3" ma:contentTypeVersion="8" ma:contentTypeDescription="Create a new document." ma:contentTypeScope="" ma:versionID="e3fd817475d01017a64616e760ff69ca">
  <xsd:schema xmlns:xsd="http://www.w3.org/2001/XMLSchema" xmlns:xs="http://www.w3.org/2001/XMLSchema" xmlns:p="http://schemas.microsoft.com/office/2006/metadata/properties" xmlns:ns2="583b3768-e370-44a4-8037-087c689a0545" targetNamespace="http://schemas.microsoft.com/office/2006/metadata/properties" ma:root="true" ma:fieldsID="30fb6e060836472f64f635eae5cc7aed" ns2:_="">
    <xsd:import namespace="583b3768-e370-44a4-8037-087c689a0545"/>
    <xsd:element name="properties">
      <xsd:complexType>
        <xsd:sequence>
          <xsd:element name="documentManagement">
            <xsd:complexType>
              <xsd:all>
                <xsd:element ref="ns2:Completefilename" minOccurs="0"/>
                <xsd:element ref="ns2:BoxLink" minOccurs="0"/>
                <xsd:element ref="ns2:Box_x003a_02_PublishedAssets" minOccurs="0"/>
                <xsd:element ref="ns2:Order0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Thumbnai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3b3768-e370-44a4-8037-087c689a0545" elementFormDefault="qualified">
    <xsd:import namespace="http://schemas.microsoft.com/office/2006/documentManagement/types"/>
    <xsd:import namespace="http://schemas.microsoft.com/office/infopath/2007/PartnerControls"/>
    <xsd:element name="Completefilename" ma:index="8" nillable="true" ma:displayName="Complete file name" ma:description="file name of Box counterpart" ma:format="Dropdown" ma:internalName="Completefilename">
      <xsd:simpleType>
        <xsd:restriction base="dms:Text">
          <xsd:maxLength value="255"/>
        </xsd:restriction>
      </xsd:simpleType>
    </xsd:element>
    <xsd:element name="BoxLink" ma:index="9" nillable="true" ma:displayName="Box: 01_Projects" ma:description="Link to Box counterpart for production updates" ma:format="Hyperlink" ma:internalName="BoxLink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Box_x003a_02_PublishedAssets" ma:index="10" nillable="true" ma:displayName="Box: 02_PubAssets" ma:description="Link to files counterpart in published assets folder in Box" ma:format="Hyperlink" ma:internalName="Box_x003a_02_PublishedAssets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Order0" ma:index="11" nillable="true" ma:displayName="Sort order" ma:description="Sequence and order files should appear on template library view" ma:format="Dropdown" ma:internalName="Order0" ma:percentage="FALSE">
      <xsd:simpleType>
        <xsd:restriction base="dms:Number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Thumbnail" ma:index="15" nillable="true" ma:displayName="Thumbnail" ma:format="Thumbnail" ma:internalName="Thumbnail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91251C0-D336-4ADE-9149-489DC5DF062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3798F27-E6E4-4ACB-B27D-44B603BA1245}">
  <ds:schemaRefs>
    <ds:schemaRef ds:uri="http://purl.org/dc/elements/1.1/"/>
    <ds:schemaRef ds:uri="http://schemas.openxmlformats.org/package/2006/metadata/core-properties"/>
    <ds:schemaRef ds:uri="http://purl.org/dc/terms/"/>
    <ds:schemaRef ds:uri="http://purl.org/dc/dcmitype/"/>
    <ds:schemaRef ds:uri="http://schemas.microsoft.com/office/2006/documentManagement/types"/>
    <ds:schemaRef ds:uri="583b3768-e370-44a4-8037-087c689a0545"/>
    <ds:schemaRef ds:uri="http://schemas.microsoft.com/office/2006/metadata/properties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7466BDD-CE65-46C2-BF13-E8D466B07A0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83b3768-e370-44a4-8037-087c689a054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IBM presentation template</Template>
  <TotalTime>18177</TotalTime>
  <Words>790</Words>
  <Application>Microsoft Macintosh PowerPoint</Application>
  <PresentationFormat>Custom</PresentationFormat>
  <Paragraphs>143</Paragraphs>
  <Slides>19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IBM Plex Sans Light</vt:lpstr>
      <vt:lpstr>IBM Plex Sans</vt:lpstr>
      <vt:lpstr>IBM Plex Sans Medm</vt:lpstr>
      <vt:lpstr>Wingdings</vt:lpstr>
      <vt:lpstr>Arial</vt:lpstr>
      <vt:lpstr>IBM Plex Sans ExtLt</vt:lpstr>
      <vt:lpstr>IBM presentation template</vt:lpstr>
      <vt:lpstr>GitOps Workshop OSK MV SR</vt:lpstr>
      <vt:lpstr>Martin Kubo Application Developer</vt:lpstr>
      <vt:lpstr>Obsah</vt:lpstr>
      <vt:lpstr>Čo je to GitOps?</vt:lpstr>
      <vt:lpstr>Stručná história nasadzovania aplikácií</vt:lpstr>
      <vt:lpstr>PowerPoint Presentation</vt:lpstr>
      <vt:lpstr>YAML</vt:lpstr>
      <vt:lpstr>GitOps Tech Stack</vt:lpstr>
      <vt:lpstr>Git</vt:lpstr>
      <vt:lpstr>Docker (Podman)</vt:lpstr>
      <vt:lpstr>PowerPoint Presentation</vt:lpstr>
      <vt:lpstr>Kubernetes</vt:lpstr>
      <vt:lpstr>PowerPoint Presentation</vt:lpstr>
      <vt:lpstr>Helm</vt:lpstr>
      <vt:lpstr>Tekton</vt:lpstr>
      <vt:lpstr>ArgoCD</vt:lpstr>
      <vt:lpstr>OpenShift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Martin Kubo</dc:creator>
  <cp:keywords/>
  <dc:description/>
  <cp:lastModifiedBy>Martin Kubo</cp:lastModifiedBy>
  <cp:revision>4</cp:revision>
  <cp:lastPrinted>2019-04-25T15:14:05Z</cp:lastPrinted>
  <dcterms:created xsi:type="dcterms:W3CDTF">2025-11-21T07:06:17Z</dcterms:created>
  <dcterms:modified xsi:type="dcterms:W3CDTF">2025-12-08T13:38:41Z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0x01010031694EF421EE7B4987B547F22F2A1DA3</vt:lpwstr>
  </property>
</Properties>
</file>